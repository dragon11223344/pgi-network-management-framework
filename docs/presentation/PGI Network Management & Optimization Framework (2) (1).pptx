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y="10287000" cx="18288000"/>
  <p:notesSz cx="6858000" cy="9144000"/>
  <p:embeddedFontLst>
    <p:embeddedFont>
      <p:font typeface="Nunito"/>
      <p:regular r:id="rId34"/>
      <p:bold r:id="rId35"/>
      <p:italic r:id="rId36"/>
      <p:boldItalic r:id="rId37"/>
    </p:embeddedFont>
    <p:embeddedFont>
      <p:font typeface="DM Sans"/>
      <p:bold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0" roundtripDataSignature="AMtx7mjr893EzFH6iFcllZe/gxDID7wJZ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customschemas.google.com/relationships/presentationmetadata" Target="meta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Nunito-bold.fntdata"/><Relationship Id="rId12" Type="http://schemas.openxmlformats.org/officeDocument/2006/relationships/slide" Target="slides/slide7.xml"/><Relationship Id="rId34" Type="http://schemas.openxmlformats.org/officeDocument/2006/relationships/font" Target="fonts/Nunito-regular.fntdata"/><Relationship Id="rId15" Type="http://schemas.openxmlformats.org/officeDocument/2006/relationships/slide" Target="slides/slide10.xml"/><Relationship Id="rId37" Type="http://schemas.openxmlformats.org/officeDocument/2006/relationships/font" Target="fonts/Nunito-boldItalic.fntdata"/><Relationship Id="rId14" Type="http://schemas.openxmlformats.org/officeDocument/2006/relationships/slide" Target="slides/slide9.xml"/><Relationship Id="rId36" Type="http://schemas.openxmlformats.org/officeDocument/2006/relationships/font" Target="fonts/Nunito-italic.fntdata"/><Relationship Id="rId17" Type="http://schemas.openxmlformats.org/officeDocument/2006/relationships/slide" Target="slides/slide12.xml"/><Relationship Id="rId39" Type="http://schemas.openxmlformats.org/officeDocument/2006/relationships/font" Target="fonts/DMSans-boldItalic.fntdata"/><Relationship Id="rId16" Type="http://schemas.openxmlformats.org/officeDocument/2006/relationships/slide" Target="slides/slide11.xml"/><Relationship Id="rId38" Type="http://schemas.openxmlformats.org/officeDocument/2006/relationships/font" Target="fonts/DMSans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4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34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3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3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3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9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0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0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4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4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EDE2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17259300" y="-361652"/>
            <a:ext cx="3086100" cy="10648652"/>
            <a:chOff x="0" y="-95250"/>
            <a:chExt cx="812800" cy="2804583"/>
          </a:xfrm>
        </p:grpSpPr>
        <p:sp>
          <p:nvSpPr>
            <p:cNvPr id="85" name="Google Shape;85;p1"/>
            <p:cNvSpPr/>
            <p:nvPr/>
          </p:nvSpPr>
          <p:spPr>
            <a:xfrm>
              <a:off x="0" y="0"/>
              <a:ext cx="812800" cy="2709333"/>
            </a:xfrm>
            <a:custGeom>
              <a:rect b="b" l="l" r="r" t="t"/>
              <a:pathLst>
                <a:path extrusionOk="0" h="2709333" w="812800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"/>
            <p:cNvSpPr txBox="1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2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7" name="Google Shape;87;p1"/>
          <p:cNvSpPr txBox="1"/>
          <p:nvPr/>
        </p:nvSpPr>
        <p:spPr>
          <a:xfrm>
            <a:off x="1628203" y="2049510"/>
            <a:ext cx="13330782" cy="1260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303870"/>
                </a:solidFill>
                <a:latin typeface="DM Sans"/>
                <a:ea typeface="DM Sans"/>
                <a:cs typeface="DM Sans"/>
                <a:sym typeface="DM Sans"/>
              </a:rPr>
              <a:t>PGI NETWORK MANAGEMENT &amp; OPTIMIZATION FRAMEWORK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1641801" y="3771633"/>
            <a:ext cx="15004398" cy="5558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40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A Practical Approach to Reliable, Secure, and Maintainable Campus Networking</a:t>
            </a:r>
            <a:endParaRPr/>
          </a:p>
        </p:txBody>
      </p:sp>
      <p:sp>
        <p:nvSpPr>
          <p:cNvPr id="89" name="Google Shape;89;p1"/>
          <p:cNvSpPr txBox="1"/>
          <p:nvPr/>
        </p:nvSpPr>
        <p:spPr>
          <a:xfrm>
            <a:off x="1641801" y="4370002"/>
            <a:ext cx="4301131" cy="5558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40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Capstone Project / FYP</a:t>
            </a:r>
            <a:endParaRPr/>
          </a:p>
        </p:txBody>
      </p:sp>
      <p:sp>
        <p:nvSpPr>
          <p:cNvPr id="90" name="Google Shape;90;p1"/>
          <p:cNvSpPr txBox="1"/>
          <p:nvPr/>
        </p:nvSpPr>
        <p:spPr>
          <a:xfrm>
            <a:off x="1641801" y="5328173"/>
            <a:ext cx="2727206" cy="5558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40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Presented by:</a:t>
            </a: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1895601" y="6026425"/>
            <a:ext cx="6627900" cy="18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40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Emanwal Boota &amp; Methew Amir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40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BS Computer Science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40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Pakistan Global Institute</a:t>
            </a:r>
            <a:endParaRPr/>
          </a:p>
        </p:txBody>
      </p:sp>
      <p:sp>
        <p:nvSpPr>
          <p:cNvPr id="92" name="Google Shape;92;p1"/>
          <p:cNvSpPr txBox="1"/>
          <p:nvPr/>
        </p:nvSpPr>
        <p:spPr>
          <a:xfrm>
            <a:off x="1641801" y="7867691"/>
            <a:ext cx="4139443" cy="5558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40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Instructor: Sir Tuseef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EDE2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 txBox="1"/>
          <p:nvPr/>
        </p:nvSpPr>
        <p:spPr>
          <a:xfrm>
            <a:off x="1028700" y="1133475"/>
            <a:ext cx="13330782" cy="650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303870"/>
                </a:solidFill>
                <a:latin typeface="DM Sans"/>
                <a:ea typeface="DM Sans"/>
                <a:cs typeface="DM Sans"/>
                <a:sym typeface="DM Sans"/>
              </a:rPr>
              <a:t>PROJECT MOTIVATION</a:t>
            </a:r>
            <a:endParaRPr/>
          </a:p>
        </p:txBody>
      </p:sp>
      <p:sp>
        <p:nvSpPr>
          <p:cNvPr id="98" name="Google Shape;98;p2"/>
          <p:cNvSpPr txBox="1"/>
          <p:nvPr/>
        </p:nvSpPr>
        <p:spPr>
          <a:xfrm>
            <a:off x="1028700" y="2075147"/>
            <a:ext cx="6953419" cy="432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7035" lvl="1" marL="734069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3400"/>
              <a:buFont typeface="Arial"/>
              <a:buChar char="•"/>
            </a:pPr>
            <a:r>
              <a:rPr b="0" i="0" lang="en-US" sz="3400" u="none" cap="none" strike="noStrike">
                <a:solidFill>
                  <a:srgbClr val="303870"/>
                </a:solidFill>
                <a:latin typeface="DM Sans"/>
                <a:ea typeface="DM Sans"/>
                <a:cs typeface="DM Sans"/>
                <a:sym typeface="DM Sans"/>
              </a:rPr>
              <a:t>WHY THIS PROJECT?</a:t>
            </a:r>
            <a:endParaRPr/>
          </a:p>
        </p:txBody>
      </p:sp>
      <p:sp>
        <p:nvSpPr>
          <p:cNvPr id="99" name="Google Shape;99;p2"/>
          <p:cNvSpPr txBox="1"/>
          <p:nvPr/>
        </p:nvSpPr>
        <p:spPr>
          <a:xfrm>
            <a:off x="2017186" y="2565273"/>
            <a:ext cx="6534636" cy="42348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80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University networks support:</a:t>
            </a:r>
            <a:endParaRPr/>
          </a:p>
          <a:p>
            <a:pPr indent="-289360" lvl="1" marL="578719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2680"/>
              <a:buFont typeface="Arial"/>
              <a:buChar char="•"/>
            </a:pPr>
            <a:r>
              <a:rPr b="0" i="0" lang="en-US" sz="2680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Online learning</a:t>
            </a:r>
            <a:endParaRPr/>
          </a:p>
          <a:p>
            <a:pPr indent="-289360" lvl="1" marL="578719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2680"/>
              <a:buFont typeface="Arial"/>
              <a:buChar char="•"/>
            </a:pPr>
            <a:r>
              <a:rPr b="0" i="0" lang="en-US" sz="2680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Learning management systems</a:t>
            </a:r>
            <a:endParaRPr/>
          </a:p>
          <a:p>
            <a:pPr indent="-289360" lvl="1" marL="578719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2680"/>
              <a:buFont typeface="Arial"/>
              <a:buChar char="•"/>
            </a:pPr>
            <a:r>
              <a:rPr b="0" i="0" lang="en-US" sz="2680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Laboratories</a:t>
            </a:r>
            <a:endParaRPr/>
          </a:p>
          <a:p>
            <a:pPr indent="-289360" lvl="1" marL="578719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2680"/>
              <a:buFont typeface="Arial"/>
              <a:buChar char="•"/>
            </a:pPr>
            <a:r>
              <a:rPr b="0" i="0" lang="en-US" sz="2680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Faculty and administration</a:t>
            </a:r>
            <a:endParaRPr/>
          </a:p>
          <a:p>
            <a:pPr indent="-289360" lvl="1" marL="578719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2680"/>
              <a:buFont typeface="Arial"/>
              <a:buChar char="•"/>
            </a:pPr>
            <a:r>
              <a:rPr b="0" i="0" lang="en-US" sz="2680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Student connectivity</a:t>
            </a:r>
            <a:endParaRPr/>
          </a:p>
          <a:p>
            <a:pPr indent="-289360" lvl="1" marL="578719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2680"/>
              <a:buFont typeface="Arial"/>
              <a:buChar char="•"/>
            </a:pPr>
            <a:r>
              <a:rPr b="0" i="0" lang="en-US" sz="2680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Internal services</a:t>
            </a:r>
            <a:endParaRPr/>
          </a:p>
          <a:p>
            <a:pPr indent="-289360" lvl="1" marL="578719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2680"/>
              <a:buFont typeface="Arial"/>
              <a:buChar char="•"/>
            </a:pPr>
            <a:r>
              <a:rPr b="0" i="0" lang="en-US" sz="2680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Research and academic activities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680" u="none" cap="none" strike="noStrike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0" name="Google Shape;100;p2"/>
          <p:cNvSpPr txBox="1"/>
          <p:nvPr/>
        </p:nvSpPr>
        <p:spPr>
          <a:xfrm>
            <a:off x="1028700" y="6876302"/>
            <a:ext cx="6953419" cy="432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7035" lvl="1" marL="734069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3400"/>
              <a:buFont typeface="Arial"/>
              <a:buChar char="•"/>
            </a:pPr>
            <a:r>
              <a:rPr b="0" i="0" lang="en-US" sz="3400" u="none" cap="none" strike="noStrike">
                <a:solidFill>
                  <a:srgbClr val="303870"/>
                </a:solidFill>
                <a:latin typeface="DM Sans"/>
                <a:ea typeface="DM Sans"/>
                <a:cs typeface="DM Sans"/>
                <a:sym typeface="DM Sans"/>
              </a:rPr>
              <a:t>CHALLENGE</a:t>
            </a:r>
            <a:endParaRPr/>
          </a:p>
        </p:txBody>
      </p:sp>
      <p:sp>
        <p:nvSpPr>
          <p:cNvPr id="101" name="Google Shape;101;p2"/>
          <p:cNvSpPr txBox="1"/>
          <p:nvPr/>
        </p:nvSpPr>
        <p:spPr>
          <a:xfrm>
            <a:off x="2017186" y="7366142"/>
            <a:ext cx="12540358" cy="1408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80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A campus network can experience problems related to: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80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Performance </a:t>
            </a:r>
            <a:r>
              <a:rPr b="0" i="0" lang="en-US" sz="2680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→ </a:t>
            </a:r>
            <a:r>
              <a:rPr b="1" i="0" lang="en-US" sz="2680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Reliability </a:t>
            </a:r>
            <a:r>
              <a:rPr b="0" i="0" lang="en-US" sz="2680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→ </a:t>
            </a:r>
            <a:r>
              <a:rPr b="1" i="0" lang="en-US" sz="2680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Security </a:t>
            </a:r>
            <a:r>
              <a:rPr b="0" i="0" lang="en-US" sz="2680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→ </a:t>
            </a:r>
            <a:r>
              <a:rPr b="1" i="0" lang="en-US" sz="2680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Visibility </a:t>
            </a:r>
            <a:r>
              <a:rPr b="0" i="0" lang="en-US" sz="2680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→ </a:t>
            </a:r>
            <a:r>
              <a:rPr b="1" i="0" lang="en-US" sz="2680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Maintainability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680" u="none" cap="none" strike="noStrike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pSp>
        <p:nvGrpSpPr>
          <p:cNvPr id="102" name="Google Shape;102;p2"/>
          <p:cNvGrpSpPr/>
          <p:nvPr/>
        </p:nvGrpSpPr>
        <p:grpSpPr>
          <a:xfrm>
            <a:off x="17259300" y="-361652"/>
            <a:ext cx="3086100" cy="10648652"/>
            <a:chOff x="0" y="-95250"/>
            <a:chExt cx="812800" cy="2804583"/>
          </a:xfrm>
        </p:grpSpPr>
        <p:sp>
          <p:nvSpPr>
            <p:cNvPr id="103" name="Google Shape;103;p2"/>
            <p:cNvSpPr/>
            <p:nvPr/>
          </p:nvSpPr>
          <p:spPr>
            <a:xfrm>
              <a:off x="0" y="0"/>
              <a:ext cx="812800" cy="2709333"/>
            </a:xfrm>
            <a:custGeom>
              <a:rect b="b" l="l" r="r" t="t"/>
              <a:pathLst>
                <a:path extrusionOk="0" h="2709333" w="812800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2"/>
            <p:cNvSpPr txBox="1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2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EDE2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"/>
          <p:cNvSpPr txBox="1"/>
          <p:nvPr/>
        </p:nvSpPr>
        <p:spPr>
          <a:xfrm>
            <a:off x="1028700" y="1133475"/>
            <a:ext cx="13732155" cy="650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303870"/>
                </a:solidFill>
                <a:latin typeface="DM Sans"/>
                <a:ea typeface="DM Sans"/>
                <a:cs typeface="DM Sans"/>
                <a:sym typeface="DM Sans"/>
              </a:rPr>
              <a:t>PRELIMINARY PROBLEM IDENTIFICATION</a:t>
            </a:r>
            <a:endParaRPr/>
          </a:p>
        </p:txBody>
      </p:sp>
      <p:sp>
        <p:nvSpPr>
          <p:cNvPr id="110" name="Google Shape;110;p3"/>
          <p:cNvSpPr txBox="1"/>
          <p:nvPr/>
        </p:nvSpPr>
        <p:spPr>
          <a:xfrm>
            <a:off x="1028700" y="2075147"/>
            <a:ext cx="8023746" cy="432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7035" lvl="1" marL="734069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3400"/>
              <a:buFont typeface="Arial"/>
              <a:buChar char="•"/>
            </a:pPr>
            <a:r>
              <a:rPr b="0" i="0" lang="en-US" sz="3400" u="none" cap="none" strike="noStrike">
                <a:solidFill>
                  <a:srgbClr val="303870"/>
                </a:solidFill>
                <a:latin typeface="DM Sans"/>
                <a:ea typeface="DM Sans"/>
                <a:cs typeface="DM Sans"/>
                <a:sym typeface="DM Sans"/>
              </a:rPr>
              <a:t>PROBLEMS TO BE INVESTIGATED</a:t>
            </a:r>
            <a:endParaRPr/>
          </a:p>
        </p:txBody>
      </p:sp>
      <p:sp>
        <p:nvSpPr>
          <p:cNvPr id="111" name="Google Shape;111;p3"/>
          <p:cNvSpPr txBox="1"/>
          <p:nvPr/>
        </p:nvSpPr>
        <p:spPr>
          <a:xfrm>
            <a:off x="2017186" y="2565273"/>
            <a:ext cx="8065798" cy="51804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80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Based on the initial project assessment:</a:t>
            </a:r>
            <a:endParaRPr/>
          </a:p>
          <a:p>
            <a:pPr indent="-289360" lvl="1" marL="578719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2680"/>
              <a:buFont typeface="Arial"/>
              <a:buChar char="•"/>
            </a:pPr>
            <a:r>
              <a:rPr b="0" i="0" lang="en-US" sz="2680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Performance degradation during peak usage</a:t>
            </a:r>
            <a:endParaRPr/>
          </a:p>
          <a:p>
            <a:pPr indent="-289360" lvl="1" marL="578719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2680"/>
              <a:buFont typeface="Arial"/>
              <a:buChar char="•"/>
            </a:pPr>
            <a:r>
              <a:rPr b="0" i="0" lang="en-US" sz="2680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Limited visibility into bandwidth utilization</a:t>
            </a:r>
            <a:endParaRPr/>
          </a:p>
          <a:p>
            <a:pPr indent="-289360" lvl="1" marL="578719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2680"/>
              <a:buFont typeface="Arial"/>
              <a:buChar char="•"/>
            </a:pPr>
            <a:r>
              <a:rPr b="0" i="0" lang="en-US" sz="2680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Network reliability concerns</a:t>
            </a:r>
            <a:endParaRPr/>
          </a:p>
          <a:p>
            <a:pPr indent="-289360" lvl="1" marL="578719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2680"/>
              <a:buFont typeface="Arial"/>
              <a:buChar char="•"/>
            </a:pPr>
            <a:r>
              <a:rPr b="0" i="0" lang="en-US" sz="2680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Lack of centralized monitoring</a:t>
            </a:r>
            <a:endParaRPr/>
          </a:p>
          <a:p>
            <a:pPr indent="-289360" lvl="1" marL="578719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2680"/>
              <a:buFont typeface="Arial"/>
              <a:buChar char="•"/>
            </a:pPr>
            <a:r>
              <a:rPr b="0" i="0" lang="en-US" sz="2680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Unauthorized-device/access concerns</a:t>
            </a:r>
            <a:endParaRPr/>
          </a:p>
          <a:p>
            <a:pPr indent="-289360" lvl="1" marL="578719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2680"/>
              <a:buFont typeface="Arial"/>
              <a:buChar char="•"/>
            </a:pPr>
            <a:r>
              <a:rPr b="0" i="0" lang="en-US" sz="2680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Incomplete logical and physical documentation</a:t>
            </a:r>
            <a:endParaRPr/>
          </a:p>
          <a:p>
            <a:pPr indent="-289360" lvl="1" marL="578719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2680"/>
              <a:buFont typeface="Arial"/>
              <a:buChar char="•"/>
            </a:pPr>
            <a:r>
              <a:rPr b="0" i="0" lang="en-US" sz="2680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Limited redundancy in Internet connectivity</a:t>
            </a:r>
            <a:endParaRPr/>
          </a:p>
          <a:p>
            <a:pPr indent="-289360" lvl="1" marL="578719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2680"/>
              <a:buFont typeface="Arial"/>
              <a:buChar char="•"/>
            </a:pPr>
            <a:r>
              <a:rPr b="0" i="0" lang="en-US" sz="2680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Difficulty maintaining consistent configuration records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680" u="none" cap="none" strike="noStrike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12" name="Google Shape;112;p3"/>
          <p:cNvSpPr txBox="1"/>
          <p:nvPr/>
        </p:nvSpPr>
        <p:spPr>
          <a:xfrm>
            <a:off x="1028700" y="7567477"/>
            <a:ext cx="8023746" cy="432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7035" lvl="1" marL="734069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3400"/>
              <a:buFont typeface="Arial"/>
              <a:buChar char="•"/>
            </a:pPr>
            <a:r>
              <a:rPr b="0" i="0" lang="en-US" sz="3400" u="none" cap="none" strike="noStrike">
                <a:solidFill>
                  <a:srgbClr val="303870"/>
                </a:solidFill>
                <a:latin typeface="DM Sans"/>
                <a:ea typeface="DM Sans"/>
                <a:cs typeface="DM Sans"/>
                <a:sym typeface="DM Sans"/>
              </a:rPr>
              <a:t>IMPORTANT</a:t>
            </a:r>
            <a:endParaRPr/>
          </a:p>
        </p:txBody>
      </p:sp>
      <p:sp>
        <p:nvSpPr>
          <p:cNvPr id="113" name="Google Shape;113;p3"/>
          <p:cNvSpPr txBox="1"/>
          <p:nvPr/>
        </p:nvSpPr>
        <p:spPr>
          <a:xfrm>
            <a:off x="2017186" y="8057317"/>
            <a:ext cx="13447163" cy="92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80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These issues will be verified through systematic measurement and assessment rather than assumed as final findings.</a:t>
            </a:r>
            <a:endParaRPr/>
          </a:p>
        </p:txBody>
      </p:sp>
      <p:grpSp>
        <p:nvGrpSpPr>
          <p:cNvPr id="114" name="Google Shape;114;p3"/>
          <p:cNvGrpSpPr/>
          <p:nvPr/>
        </p:nvGrpSpPr>
        <p:grpSpPr>
          <a:xfrm>
            <a:off x="17259300" y="-325842"/>
            <a:ext cx="3086100" cy="10648652"/>
            <a:chOff x="0" y="-95250"/>
            <a:chExt cx="812800" cy="2804583"/>
          </a:xfrm>
        </p:grpSpPr>
        <p:sp>
          <p:nvSpPr>
            <p:cNvPr id="115" name="Google Shape;115;p3"/>
            <p:cNvSpPr/>
            <p:nvPr/>
          </p:nvSpPr>
          <p:spPr>
            <a:xfrm>
              <a:off x="0" y="0"/>
              <a:ext cx="812800" cy="2709333"/>
            </a:xfrm>
            <a:custGeom>
              <a:rect b="b" l="l" r="r" t="t"/>
              <a:pathLst>
                <a:path extrusionOk="0" h="2709333" w="812800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3"/>
            <p:cNvSpPr txBox="1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2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EDE2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"/>
          <p:cNvSpPr txBox="1"/>
          <p:nvPr/>
        </p:nvSpPr>
        <p:spPr>
          <a:xfrm>
            <a:off x="1028700" y="1133475"/>
            <a:ext cx="13732155" cy="650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303870"/>
                </a:solidFill>
                <a:latin typeface="DM Sans"/>
                <a:ea typeface="DM Sans"/>
                <a:cs typeface="DM Sans"/>
                <a:sym typeface="DM Sans"/>
              </a:rPr>
              <a:t>PROBLEM STATEMENT</a:t>
            </a:r>
            <a:endParaRPr/>
          </a:p>
        </p:txBody>
      </p:sp>
      <p:sp>
        <p:nvSpPr>
          <p:cNvPr id="122" name="Google Shape;122;p4"/>
          <p:cNvSpPr txBox="1"/>
          <p:nvPr/>
        </p:nvSpPr>
        <p:spPr>
          <a:xfrm>
            <a:off x="1028700" y="2075147"/>
            <a:ext cx="8023746" cy="432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7035" lvl="1" marL="734069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3400"/>
              <a:buFont typeface="Arial"/>
              <a:buChar char="•"/>
            </a:pPr>
            <a:r>
              <a:rPr b="0" i="0" lang="en-US" sz="3400" u="none" cap="none" strike="noStrike">
                <a:solidFill>
                  <a:srgbClr val="303870"/>
                </a:solidFill>
                <a:latin typeface="DM Sans"/>
                <a:ea typeface="DM Sans"/>
                <a:cs typeface="DM Sans"/>
                <a:sym typeface="DM Sans"/>
              </a:rPr>
              <a:t>PROBLEM STATEMENT</a:t>
            </a:r>
            <a:endParaRPr/>
          </a:p>
        </p:txBody>
      </p:sp>
      <p:sp>
        <p:nvSpPr>
          <p:cNvPr id="123" name="Google Shape;123;p4"/>
          <p:cNvSpPr txBox="1"/>
          <p:nvPr/>
        </p:nvSpPr>
        <p:spPr>
          <a:xfrm>
            <a:off x="2017186" y="2565273"/>
            <a:ext cx="8065798" cy="42348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80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PGI requires a systematic approach for:</a:t>
            </a:r>
            <a:endParaRPr/>
          </a:p>
          <a:p>
            <a:pPr indent="-289360" lvl="1" marL="578719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2680"/>
              <a:buFont typeface="Arial"/>
              <a:buChar char="•"/>
            </a:pPr>
            <a:r>
              <a:rPr b="0" i="0" lang="en-US" sz="2680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Monitoring network health</a:t>
            </a:r>
            <a:endParaRPr/>
          </a:p>
          <a:p>
            <a:pPr indent="-289360" lvl="1" marL="578719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2680"/>
              <a:buFont typeface="Arial"/>
              <a:buChar char="•"/>
            </a:pPr>
            <a:r>
              <a:rPr b="0" i="0" lang="en-US" sz="2680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Measuring performance</a:t>
            </a:r>
            <a:endParaRPr/>
          </a:p>
          <a:p>
            <a:pPr indent="-289360" lvl="1" marL="578719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2680"/>
              <a:buFont typeface="Arial"/>
              <a:buChar char="•"/>
            </a:pPr>
            <a:r>
              <a:rPr b="0" i="0" lang="en-US" sz="2680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Controlling access</a:t>
            </a:r>
            <a:endParaRPr/>
          </a:p>
          <a:p>
            <a:pPr indent="-289360" lvl="1" marL="578719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2680"/>
              <a:buFont typeface="Arial"/>
              <a:buChar char="•"/>
            </a:pPr>
            <a:r>
              <a:rPr b="0" i="0" lang="en-US" sz="2680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Identifying infrastructure weaknesses</a:t>
            </a:r>
            <a:endParaRPr/>
          </a:p>
          <a:p>
            <a:pPr indent="-289360" lvl="1" marL="578719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2680"/>
              <a:buFont typeface="Arial"/>
              <a:buChar char="•"/>
            </a:pPr>
            <a:r>
              <a:rPr b="0" i="0" lang="en-US" sz="2680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Improving reliability</a:t>
            </a:r>
            <a:endParaRPr/>
          </a:p>
          <a:p>
            <a:pPr indent="-289360" lvl="1" marL="578719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2680"/>
              <a:buFont typeface="Arial"/>
              <a:buChar char="•"/>
            </a:pPr>
            <a:r>
              <a:rPr b="0" i="0" lang="en-US" sz="2680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Documenting network infrastructure</a:t>
            </a:r>
            <a:endParaRPr/>
          </a:p>
          <a:p>
            <a:pPr indent="-289360" lvl="1" marL="578719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2680"/>
              <a:buFont typeface="Arial"/>
              <a:buChar char="•"/>
            </a:pPr>
            <a:r>
              <a:rPr b="0" i="0" lang="en-US" sz="2680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Supporting future administrators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680" u="none" cap="none" strike="noStrike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24" name="Google Shape;124;p4"/>
          <p:cNvSpPr txBox="1"/>
          <p:nvPr/>
        </p:nvSpPr>
        <p:spPr>
          <a:xfrm>
            <a:off x="1028700" y="7567477"/>
            <a:ext cx="8023746" cy="432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7035" lvl="1" marL="734069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3400"/>
              <a:buFont typeface="Arial"/>
              <a:buChar char="•"/>
            </a:pPr>
            <a:r>
              <a:rPr b="0" i="0" lang="en-US" sz="3400" u="none" cap="none" strike="noStrike">
                <a:solidFill>
                  <a:srgbClr val="303870"/>
                </a:solidFill>
                <a:latin typeface="DM Sans"/>
                <a:ea typeface="DM Sans"/>
                <a:cs typeface="DM Sans"/>
                <a:sym typeface="DM Sans"/>
              </a:rPr>
              <a:t>CORE PROBLEM</a:t>
            </a:r>
            <a:endParaRPr/>
          </a:p>
        </p:txBody>
      </p:sp>
      <p:sp>
        <p:nvSpPr>
          <p:cNvPr id="125" name="Google Shape;125;p4"/>
          <p:cNvSpPr txBox="1"/>
          <p:nvPr/>
        </p:nvSpPr>
        <p:spPr>
          <a:xfrm>
            <a:off x="2017186" y="8057317"/>
            <a:ext cx="13447163" cy="932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80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Existing network management activities need to be brought together into a measurable, documented, and PGI-specific operational framework.</a:t>
            </a:r>
            <a:endParaRPr/>
          </a:p>
        </p:txBody>
      </p:sp>
      <p:grpSp>
        <p:nvGrpSpPr>
          <p:cNvPr id="126" name="Google Shape;126;p4"/>
          <p:cNvGrpSpPr/>
          <p:nvPr/>
        </p:nvGrpSpPr>
        <p:grpSpPr>
          <a:xfrm>
            <a:off x="17259300" y="-325842"/>
            <a:ext cx="3086100" cy="10648652"/>
            <a:chOff x="0" y="-95250"/>
            <a:chExt cx="812800" cy="2804583"/>
          </a:xfrm>
        </p:grpSpPr>
        <p:sp>
          <p:nvSpPr>
            <p:cNvPr id="127" name="Google Shape;127;p4"/>
            <p:cNvSpPr/>
            <p:nvPr/>
          </p:nvSpPr>
          <p:spPr>
            <a:xfrm>
              <a:off x="0" y="0"/>
              <a:ext cx="812800" cy="2709333"/>
            </a:xfrm>
            <a:custGeom>
              <a:rect b="b" l="l" r="r" t="t"/>
              <a:pathLst>
                <a:path extrusionOk="0" h="2709333" w="812800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4"/>
            <p:cNvSpPr txBox="1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2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EDE2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"/>
          <p:cNvSpPr txBox="1"/>
          <p:nvPr/>
        </p:nvSpPr>
        <p:spPr>
          <a:xfrm>
            <a:off x="2017186" y="2726912"/>
            <a:ext cx="11440300" cy="32892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80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Tools                                                               Their Primary Purposes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680" u="none" cap="none" strike="noStrike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80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Zabbix                                                                Monitoring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80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LibreNMS                                                          Network monitoring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80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PacketFence                                                      Network Access Control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80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NetBox                                                               Network documentation/IPAM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80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GNS3 / Packet Tracer                                       Network simulation</a:t>
            </a:r>
            <a:endParaRPr/>
          </a:p>
        </p:txBody>
      </p:sp>
      <p:grpSp>
        <p:nvGrpSpPr>
          <p:cNvPr id="134" name="Google Shape;134;p5"/>
          <p:cNvGrpSpPr/>
          <p:nvPr/>
        </p:nvGrpSpPr>
        <p:grpSpPr>
          <a:xfrm>
            <a:off x="17259300" y="-325842"/>
            <a:ext cx="3086100" cy="10648652"/>
            <a:chOff x="0" y="-95250"/>
            <a:chExt cx="812800" cy="2804583"/>
          </a:xfrm>
        </p:grpSpPr>
        <p:sp>
          <p:nvSpPr>
            <p:cNvPr id="135" name="Google Shape;135;p5"/>
            <p:cNvSpPr/>
            <p:nvPr/>
          </p:nvSpPr>
          <p:spPr>
            <a:xfrm>
              <a:off x="0" y="0"/>
              <a:ext cx="812800" cy="2709333"/>
            </a:xfrm>
            <a:custGeom>
              <a:rect b="b" l="l" r="r" t="t"/>
              <a:pathLst>
                <a:path extrusionOk="0" h="2709333" w="812800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5"/>
            <p:cNvSpPr txBox="1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2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7" name="Google Shape;137;p5"/>
          <p:cNvSpPr/>
          <p:nvPr/>
        </p:nvSpPr>
        <p:spPr>
          <a:xfrm rot="-5400000">
            <a:off x="5289979" y="4617957"/>
            <a:ext cx="2345564" cy="363562"/>
          </a:xfrm>
          <a:custGeom>
            <a:rect b="b" l="l" r="r" t="t"/>
            <a:pathLst>
              <a:path extrusionOk="0" h="363562" w="2345564">
                <a:moveTo>
                  <a:pt x="0" y="0"/>
                </a:moveTo>
                <a:lnTo>
                  <a:pt x="2345564" y="0"/>
                </a:lnTo>
                <a:lnTo>
                  <a:pt x="2345564" y="363562"/>
                </a:lnTo>
                <a:lnTo>
                  <a:pt x="0" y="3635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8" name="Google Shape;138;p5"/>
          <p:cNvSpPr txBox="1"/>
          <p:nvPr/>
        </p:nvSpPr>
        <p:spPr>
          <a:xfrm>
            <a:off x="1028700" y="1133475"/>
            <a:ext cx="13732155" cy="650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303870"/>
                </a:solidFill>
                <a:latin typeface="DM Sans"/>
                <a:ea typeface="DM Sans"/>
                <a:cs typeface="DM Sans"/>
                <a:sym typeface="DM Sans"/>
              </a:rPr>
              <a:t> EXISTING SOLUTIONS</a:t>
            </a:r>
            <a:endParaRPr/>
          </a:p>
        </p:txBody>
      </p:sp>
      <p:sp>
        <p:nvSpPr>
          <p:cNvPr id="139" name="Google Shape;139;p5"/>
          <p:cNvSpPr txBox="1"/>
          <p:nvPr/>
        </p:nvSpPr>
        <p:spPr>
          <a:xfrm>
            <a:off x="1028700" y="2075147"/>
            <a:ext cx="9183266" cy="432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7035" lvl="1" marL="734069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3400"/>
              <a:buFont typeface="Arial"/>
              <a:buChar char="•"/>
            </a:pPr>
            <a:r>
              <a:rPr b="0" i="0" lang="en-US" sz="3400" u="none" cap="none" strike="noStrike">
                <a:solidFill>
                  <a:srgbClr val="303870"/>
                </a:solidFill>
                <a:latin typeface="DM Sans"/>
                <a:ea typeface="DM Sans"/>
                <a:cs typeface="DM Sans"/>
                <a:sym typeface="DM Sans"/>
              </a:rPr>
              <a:t>EXISTING OPEN-SOURCE SOLUTIONS</a:t>
            </a:r>
            <a:endParaRPr/>
          </a:p>
        </p:txBody>
      </p:sp>
      <p:sp>
        <p:nvSpPr>
          <p:cNvPr id="140" name="Google Shape;140;p5"/>
          <p:cNvSpPr txBox="1"/>
          <p:nvPr/>
        </p:nvSpPr>
        <p:spPr>
          <a:xfrm>
            <a:off x="1028700" y="7567477"/>
            <a:ext cx="8023746" cy="432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7035" lvl="1" marL="734069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3400"/>
              <a:buFont typeface="Arial"/>
              <a:buChar char="•"/>
            </a:pPr>
            <a:r>
              <a:rPr b="0" i="0" lang="en-US" sz="3400" u="none" cap="none" strike="noStrike">
                <a:solidFill>
                  <a:srgbClr val="303870"/>
                </a:solidFill>
                <a:latin typeface="DM Sans"/>
                <a:ea typeface="DM Sans"/>
                <a:cs typeface="DM Sans"/>
                <a:sym typeface="DM Sans"/>
              </a:rPr>
              <a:t>THE QUESTION:</a:t>
            </a:r>
            <a:endParaRPr/>
          </a:p>
        </p:txBody>
      </p:sp>
      <p:sp>
        <p:nvSpPr>
          <p:cNvPr id="141" name="Google Shape;141;p5"/>
          <p:cNvSpPr txBox="1"/>
          <p:nvPr/>
        </p:nvSpPr>
        <p:spPr>
          <a:xfrm>
            <a:off x="2017186" y="8057317"/>
            <a:ext cx="13447163" cy="4557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80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Why develop another project when these tools already exist?</a:t>
            </a:r>
            <a:endParaRPr/>
          </a:p>
        </p:txBody>
      </p:sp>
      <p:sp>
        <p:nvSpPr>
          <p:cNvPr id="142" name="Google Shape;142;p5"/>
          <p:cNvSpPr/>
          <p:nvPr/>
        </p:nvSpPr>
        <p:spPr>
          <a:xfrm rot="-5400000">
            <a:off x="5357460" y="4617957"/>
            <a:ext cx="2345564" cy="363562"/>
          </a:xfrm>
          <a:custGeom>
            <a:rect b="b" l="l" r="r" t="t"/>
            <a:pathLst>
              <a:path extrusionOk="0" h="363562" w="2345564">
                <a:moveTo>
                  <a:pt x="0" y="0"/>
                </a:moveTo>
                <a:lnTo>
                  <a:pt x="2345564" y="0"/>
                </a:lnTo>
                <a:lnTo>
                  <a:pt x="2345564" y="363562"/>
                </a:lnTo>
                <a:lnTo>
                  <a:pt x="0" y="3635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EDE2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"/>
          <p:cNvSpPr txBox="1"/>
          <p:nvPr/>
        </p:nvSpPr>
        <p:spPr>
          <a:xfrm>
            <a:off x="2017186" y="2679287"/>
            <a:ext cx="4334520" cy="2837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80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We are NOT building:</a:t>
            </a:r>
            <a:endParaRPr/>
          </a:p>
          <a:p>
            <a:pPr indent="-289360" lvl="1" marL="57872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2680"/>
              <a:buFont typeface="Arial"/>
              <a:buChar char="•"/>
            </a:pPr>
            <a:r>
              <a:rPr b="0" i="0" lang="en-US" sz="2680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  Another Zabbix</a:t>
            </a:r>
            <a:endParaRPr/>
          </a:p>
          <a:p>
            <a:pPr indent="-289360" lvl="1" marL="57872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2680"/>
              <a:buFont typeface="Arial"/>
              <a:buChar char="•"/>
            </a:pPr>
            <a:r>
              <a:rPr b="0" i="0" lang="en-US" sz="2680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  Another LibreNMS</a:t>
            </a:r>
            <a:endParaRPr/>
          </a:p>
          <a:p>
            <a:pPr indent="-289360" lvl="1" marL="57872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2680"/>
              <a:buFont typeface="Arial"/>
              <a:buChar char="•"/>
            </a:pPr>
            <a:r>
              <a:rPr b="0" i="0" lang="en-US" sz="2680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  Another NetBox</a:t>
            </a:r>
            <a:endParaRPr/>
          </a:p>
          <a:p>
            <a:pPr indent="-289360" lvl="1" marL="57872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2680"/>
              <a:buFont typeface="Arial"/>
              <a:buChar char="•"/>
            </a:pPr>
            <a:r>
              <a:rPr b="0" i="0" lang="en-US" sz="2680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  Another PacketFence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680" u="none" cap="none" strike="noStrike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pSp>
        <p:nvGrpSpPr>
          <p:cNvPr id="148" name="Google Shape;148;p6"/>
          <p:cNvGrpSpPr/>
          <p:nvPr/>
        </p:nvGrpSpPr>
        <p:grpSpPr>
          <a:xfrm>
            <a:off x="17259300" y="-325842"/>
            <a:ext cx="3086100" cy="10648652"/>
            <a:chOff x="0" y="-95250"/>
            <a:chExt cx="812800" cy="2804583"/>
          </a:xfrm>
        </p:grpSpPr>
        <p:sp>
          <p:nvSpPr>
            <p:cNvPr id="149" name="Google Shape;149;p6"/>
            <p:cNvSpPr/>
            <p:nvPr/>
          </p:nvSpPr>
          <p:spPr>
            <a:xfrm>
              <a:off x="0" y="0"/>
              <a:ext cx="812800" cy="2709333"/>
            </a:xfrm>
            <a:custGeom>
              <a:rect b="b" l="l" r="r" t="t"/>
              <a:pathLst>
                <a:path extrusionOk="0" h="2709333" w="812800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6"/>
            <p:cNvSpPr txBox="1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2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1" name="Google Shape;151;p6"/>
          <p:cNvSpPr txBox="1"/>
          <p:nvPr/>
        </p:nvSpPr>
        <p:spPr>
          <a:xfrm>
            <a:off x="1028700" y="1133475"/>
            <a:ext cx="13732155" cy="650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303870"/>
                </a:solidFill>
                <a:latin typeface="DM Sans"/>
                <a:ea typeface="DM Sans"/>
                <a:cs typeface="DM Sans"/>
                <a:sym typeface="DM Sans"/>
              </a:rPr>
              <a:t>OUR PROPOSED CONTRIBUTION</a:t>
            </a:r>
            <a:endParaRPr/>
          </a:p>
        </p:txBody>
      </p:sp>
      <p:sp>
        <p:nvSpPr>
          <p:cNvPr id="152" name="Google Shape;152;p6"/>
          <p:cNvSpPr txBox="1"/>
          <p:nvPr/>
        </p:nvSpPr>
        <p:spPr>
          <a:xfrm>
            <a:off x="1028700" y="2075147"/>
            <a:ext cx="10372518" cy="432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7035" lvl="1" marL="734069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3400"/>
              <a:buFont typeface="Arial"/>
              <a:buChar char="•"/>
            </a:pPr>
            <a:r>
              <a:rPr b="0" i="0" lang="en-US" sz="3400" u="none" cap="none" strike="noStrike">
                <a:solidFill>
                  <a:srgbClr val="303870"/>
                </a:solidFill>
                <a:latin typeface="DM Sans"/>
                <a:ea typeface="DM Sans"/>
                <a:cs typeface="DM Sans"/>
                <a:sym typeface="DM Sans"/>
              </a:rPr>
              <a:t>WHAT MAKES THIS PROJECT DIFFERENT?</a:t>
            </a:r>
            <a:endParaRPr/>
          </a:p>
        </p:txBody>
      </p:sp>
      <p:sp>
        <p:nvSpPr>
          <p:cNvPr id="153" name="Google Shape;153;p6"/>
          <p:cNvSpPr txBox="1"/>
          <p:nvPr/>
        </p:nvSpPr>
        <p:spPr>
          <a:xfrm>
            <a:off x="1028700" y="7567477"/>
            <a:ext cx="8023746" cy="432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7035" lvl="1" marL="734069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3400"/>
              <a:buFont typeface="Arial"/>
              <a:buChar char="•"/>
            </a:pPr>
            <a:r>
              <a:rPr b="0" i="0" lang="en-US" sz="3400" u="none" cap="none" strike="noStrike">
                <a:solidFill>
                  <a:srgbClr val="303870"/>
                </a:solidFill>
                <a:latin typeface="DM Sans"/>
                <a:ea typeface="DM Sans"/>
                <a:cs typeface="DM Sans"/>
                <a:sym typeface="DM Sans"/>
              </a:rPr>
              <a:t>KEY IDEA</a:t>
            </a:r>
            <a:endParaRPr/>
          </a:p>
        </p:txBody>
      </p:sp>
      <p:sp>
        <p:nvSpPr>
          <p:cNvPr id="154" name="Google Shape;154;p6"/>
          <p:cNvSpPr txBox="1"/>
          <p:nvPr/>
        </p:nvSpPr>
        <p:spPr>
          <a:xfrm>
            <a:off x="2017186" y="8057317"/>
            <a:ext cx="14368833" cy="4557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80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Existing tools + PGI-specific integration + custom methodology + measurable evaluation</a:t>
            </a:r>
            <a:endParaRPr/>
          </a:p>
        </p:txBody>
      </p:sp>
      <p:sp>
        <p:nvSpPr>
          <p:cNvPr id="155" name="Google Shape;155;p6"/>
          <p:cNvSpPr txBox="1"/>
          <p:nvPr/>
        </p:nvSpPr>
        <p:spPr>
          <a:xfrm>
            <a:off x="8011786" y="2679287"/>
            <a:ext cx="8110395" cy="42657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80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We ARE building:</a:t>
            </a:r>
            <a:endParaRPr/>
          </a:p>
          <a:p>
            <a:pPr indent="-289360" lvl="1" marL="57872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2680"/>
              <a:buFont typeface="Arial"/>
              <a:buChar char="•"/>
            </a:pPr>
            <a:r>
              <a:rPr b="0" i="0" lang="en-US" sz="2680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PGI-specific integration</a:t>
            </a:r>
            <a:endParaRPr/>
          </a:p>
          <a:p>
            <a:pPr indent="-289360" lvl="1" marL="57872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2680"/>
              <a:buFont typeface="Arial"/>
              <a:buChar char="•"/>
            </a:pPr>
            <a:r>
              <a:rPr b="0" i="0" lang="en-US" sz="2680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Customized network-management workflows</a:t>
            </a:r>
            <a:endParaRPr/>
          </a:p>
          <a:p>
            <a:pPr indent="-289360" lvl="1" marL="57872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2680"/>
              <a:buFont typeface="Arial"/>
              <a:buChar char="•"/>
            </a:pPr>
            <a:r>
              <a:rPr b="0" i="0" lang="en-US" sz="2680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Network Health Assessment</a:t>
            </a:r>
            <a:endParaRPr/>
          </a:p>
          <a:p>
            <a:pPr indent="-289360" lvl="1" marL="57872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2680"/>
              <a:buFont typeface="Arial"/>
              <a:buChar char="•"/>
            </a:pPr>
            <a:r>
              <a:rPr b="0" i="0" lang="en-US" sz="2680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Automated reporting</a:t>
            </a:r>
            <a:endParaRPr/>
          </a:p>
          <a:p>
            <a:pPr indent="-289360" lvl="1" marL="57872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2680"/>
              <a:buFont typeface="Arial"/>
              <a:buChar char="•"/>
            </a:pPr>
            <a:r>
              <a:rPr b="0" i="0" lang="en-US" sz="2680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Performance baseline</a:t>
            </a:r>
            <a:endParaRPr/>
          </a:p>
          <a:p>
            <a:pPr indent="-289360" lvl="1" marL="57872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2680"/>
              <a:buFont typeface="Arial"/>
              <a:buChar char="•"/>
            </a:pPr>
            <a:r>
              <a:rPr b="0" i="0" lang="en-US" sz="2680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Before/after quantitative evaluation</a:t>
            </a:r>
            <a:endParaRPr/>
          </a:p>
          <a:p>
            <a:pPr indent="-289360" lvl="1" marL="57872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2680"/>
              <a:buFont typeface="Arial"/>
              <a:buChar char="•"/>
            </a:pPr>
            <a:r>
              <a:rPr b="0" i="0" lang="en-US" sz="2680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Future-maintenance documentation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680" u="none" cap="none" strike="noStrike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EDE2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0" name="Google Shape;160;p7"/>
          <p:cNvGrpSpPr/>
          <p:nvPr/>
        </p:nvGrpSpPr>
        <p:grpSpPr>
          <a:xfrm>
            <a:off x="17259300" y="-325842"/>
            <a:ext cx="3086100" cy="10648652"/>
            <a:chOff x="0" y="-95250"/>
            <a:chExt cx="812800" cy="2804583"/>
          </a:xfrm>
        </p:grpSpPr>
        <p:sp>
          <p:nvSpPr>
            <p:cNvPr id="161" name="Google Shape;161;p7"/>
            <p:cNvSpPr/>
            <p:nvPr/>
          </p:nvSpPr>
          <p:spPr>
            <a:xfrm>
              <a:off x="0" y="0"/>
              <a:ext cx="812800" cy="2709333"/>
            </a:xfrm>
            <a:custGeom>
              <a:rect b="b" l="l" r="r" t="t"/>
              <a:pathLst>
                <a:path extrusionOk="0" h="2709333" w="812800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7"/>
            <p:cNvSpPr txBox="1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2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3" name="Google Shape;163;p7"/>
          <p:cNvSpPr txBox="1"/>
          <p:nvPr/>
        </p:nvSpPr>
        <p:spPr>
          <a:xfrm>
            <a:off x="1028700" y="1133475"/>
            <a:ext cx="13732155" cy="650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303870"/>
                </a:solidFill>
                <a:latin typeface="DM Sans"/>
                <a:ea typeface="DM Sans"/>
                <a:cs typeface="DM Sans"/>
                <a:sym typeface="DM Sans"/>
              </a:rPr>
              <a:t> PROPOSED FRAMEWORK</a:t>
            </a:r>
            <a:endParaRPr/>
          </a:p>
        </p:txBody>
      </p:sp>
      <p:sp>
        <p:nvSpPr>
          <p:cNvPr id="164" name="Google Shape;164;p7"/>
          <p:cNvSpPr txBox="1"/>
          <p:nvPr/>
        </p:nvSpPr>
        <p:spPr>
          <a:xfrm>
            <a:off x="1028700" y="2075147"/>
            <a:ext cx="14267318" cy="432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7035" lvl="1" marL="734069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3400"/>
              <a:buFont typeface="Arial"/>
              <a:buChar char="•"/>
            </a:pPr>
            <a:r>
              <a:rPr b="0" i="0" lang="en-US" sz="3400" u="none" cap="none" strike="noStrike">
                <a:solidFill>
                  <a:srgbClr val="303870"/>
                </a:solidFill>
                <a:latin typeface="DM Sans"/>
                <a:ea typeface="DM Sans"/>
                <a:cs typeface="DM Sans"/>
                <a:sym typeface="DM Sans"/>
              </a:rPr>
              <a:t>PGI NETWORK MANAGEMENT &amp; OPTIMIZATION FRAMEWORK</a:t>
            </a:r>
            <a:endParaRPr/>
          </a:p>
        </p:txBody>
      </p:sp>
      <p:sp>
        <p:nvSpPr>
          <p:cNvPr id="165" name="Google Shape;165;p7"/>
          <p:cNvSpPr txBox="1"/>
          <p:nvPr/>
        </p:nvSpPr>
        <p:spPr>
          <a:xfrm>
            <a:off x="1028700" y="7567477"/>
            <a:ext cx="8023746" cy="432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7035" lvl="1" marL="734069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3400"/>
              <a:buFont typeface="Arial"/>
              <a:buChar char="•"/>
            </a:pPr>
            <a:r>
              <a:rPr b="0" i="0" lang="en-US" sz="3400" u="none" cap="none" strike="noStrike">
                <a:solidFill>
                  <a:srgbClr val="303870"/>
                </a:solidFill>
                <a:latin typeface="DM Sans"/>
                <a:ea typeface="DM Sans"/>
                <a:cs typeface="DM Sans"/>
                <a:sym typeface="DM Sans"/>
              </a:rPr>
              <a:t>KEY IDEA</a:t>
            </a:r>
            <a:endParaRPr/>
          </a:p>
        </p:txBody>
      </p:sp>
      <p:sp>
        <p:nvSpPr>
          <p:cNvPr id="166" name="Google Shape;166;p7"/>
          <p:cNvSpPr txBox="1"/>
          <p:nvPr/>
        </p:nvSpPr>
        <p:spPr>
          <a:xfrm>
            <a:off x="2017186" y="8057317"/>
            <a:ext cx="14368833" cy="4557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80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Existing tools + PGI-specific integration + custom methodology + measurable evaluation</a:t>
            </a:r>
            <a:endParaRPr/>
          </a:p>
        </p:txBody>
      </p:sp>
      <p:sp>
        <p:nvSpPr>
          <p:cNvPr id="167" name="Google Shape;167;p7"/>
          <p:cNvSpPr txBox="1"/>
          <p:nvPr/>
        </p:nvSpPr>
        <p:spPr>
          <a:xfrm>
            <a:off x="2017186" y="2536412"/>
            <a:ext cx="6200893" cy="4389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79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                PGI CAMPUS NETWORK</a:t>
            </a:r>
            <a:endParaRPr/>
          </a:p>
          <a:p>
            <a:pPr indent="0" lvl="0" marL="0" marR="0" rtl="0" algn="l">
              <a:lnSpc>
                <a:spcPct val="1400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79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                        │</a:t>
            </a:r>
            <a:endParaRPr/>
          </a:p>
          <a:p>
            <a:pPr indent="0" lvl="0" marL="0" marR="0" rtl="0" algn="l">
              <a:lnSpc>
                <a:spcPct val="1400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79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       ┌────────────────┼────────────────┐</a:t>
            </a:r>
            <a:endParaRPr/>
          </a:p>
          <a:p>
            <a:pPr indent="0" lvl="0" marL="0" marR="0" rtl="0" algn="l">
              <a:lnSpc>
                <a:spcPct val="1400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79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       │                                                              │                                                              │</a:t>
            </a:r>
            <a:endParaRPr/>
          </a:p>
          <a:p>
            <a:pPr indent="0" lvl="0" marL="0" marR="0" rtl="0" algn="l">
              <a:lnSpc>
                <a:spcPct val="1400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79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   Monitoring                                               Security                                            Documentation</a:t>
            </a:r>
            <a:endParaRPr/>
          </a:p>
          <a:p>
            <a:pPr indent="0" lvl="0" marL="0" marR="0" rtl="0" algn="l">
              <a:lnSpc>
                <a:spcPct val="1400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79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       │                                                              │                                                              │</a:t>
            </a:r>
            <a:endParaRPr/>
          </a:p>
          <a:p>
            <a:pPr indent="0" lvl="0" marL="0" marR="0" rtl="0" algn="l">
              <a:lnSpc>
                <a:spcPct val="1400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79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       └────────────────┼────────────────┘</a:t>
            </a:r>
            <a:endParaRPr/>
          </a:p>
          <a:p>
            <a:pPr indent="0" lvl="0" marL="0" marR="0" rtl="0" algn="l">
              <a:lnSpc>
                <a:spcPct val="1400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79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                        │</a:t>
            </a:r>
            <a:endParaRPr/>
          </a:p>
          <a:p>
            <a:pPr indent="0" lvl="0" marL="0" marR="0" rtl="0" algn="l">
              <a:lnSpc>
                <a:spcPct val="1400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79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                        ▼</a:t>
            </a:r>
            <a:endParaRPr/>
          </a:p>
          <a:p>
            <a:pPr indent="0" lvl="0" marL="0" marR="0" rtl="0" algn="l">
              <a:lnSpc>
                <a:spcPct val="1400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79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             PGI FRAMEWORK LAYER</a:t>
            </a:r>
            <a:endParaRPr/>
          </a:p>
          <a:p>
            <a:pPr indent="0" lvl="0" marL="0" marR="0" rtl="0" algn="l">
              <a:lnSpc>
                <a:spcPct val="1400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79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                        │</a:t>
            </a:r>
            <a:endParaRPr/>
          </a:p>
          <a:p>
            <a:pPr indent="0" lvl="0" marL="0" marR="0" rtl="0" algn="l">
              <a:lnSpc>
                <a:spcPct val="1400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79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            ┌───────────┴───────────┐</a:t>
            </a:r>
            <a:endParaRPr/>
          </a:p>
          <a:p>
            <a:pPr indent="0" lvl="0" marL="0" marR="0" rtl="0" algn="l">
              <a:lnSpc>
                <a:spcPct val="1400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79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            │                                                                                         │</a:t>
            </a:r>
            <a:endParaRPr/>
          </a:p>
          <a:p>
            <a:pPr indent="0" lvl="0" marL="0" marR="0" rtl="0" algn="l">
              <a:lnSpc>
                <a:spcPct val="1400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79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     Health                                   Assessment            Custom Workflows</a:t>
            </a:r>
            <a:endParaRPr/>
          </a:p>
          <a:p>
            <a:pPr indent="0" lvl="0" marL="0" marR="0" rtl="0" algn="l">
              <a:lnSpc>
                <a:spcPct val="1400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79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            │                                                                                         │</a:t>
            </a:r>
            <a:endParaRPr/>
          </a:p>
          <a:p>
            <a:pPr indent="0" lvl="0" marL="0" marR="0" rtl="0" algn="l">
              <a:lnSpc>
                <a:spcPct val="1400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79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            └───────────┬───────────┘</a:t>
            </a:r>
            <a:endParaRPr/>
          </a:p>
          <a:p>
            <a:pPr indent="0" lvl="0" marL="0" marR="0" rtl="0" algn="l">
              <a:lnSpc>
                <a:spcPct val="1400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79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                        ▼</a:t>
            </a:r>
            <a:endParaRPr/>
          </a:p>
          <a:p>
            <a:pPr indent="0" lvl="0" marL="0" marR="0" rtl="0" algn="l">
              <a:lnSpc>
                <a:spcPct val="1400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79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               Dashboard / Reports</a:t>
            </a:r>
            <a:endParaRPr/>
          </a:p>
          <a:p>
            <a:pPr indent="0" lvl="0" marL="0" marR="0" rtl="0" algn="l">
              <a:lnSpc>
                <a:spcPct val="1400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79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                        │</a:t>
            </a:r>
            <a:endParaRPr/>
          </a:p>
          <a:p>
            <a:pPr indent="0" lvl="0" marL="0" marR="0" rtl="0" algn="l">
              <a:lnSpc>
                <a:spcPct val="1400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79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                        ▼</a:t>
            </a:r>
            <a:endParaRPr/>
          </a:p>
          <a:p>
            <a:pPr indent="0" lvl="0" marL="0" marR="0" rtl="0" algn="l">
              <a:lnSpc>
                <a:spcPct val="1400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79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             Quantitative Evaluation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EDE2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2" name="Google Shape;172;p8"/>
          <p:cNvGrpSpPr/>
          <p:nvPr/>
        </p:nvGrpSpPr>
        <p:grpSpPr>
          <a:xfrm>
            <a:off x="17259300" y="-325842"/>
            <a:ext cx="3086100" cy="10648652"/>
            <a:chOff x="0" y="-95250"/>
            <a:chExt cx="812800" cy="2804583"/>
          </a:xfrm>
        </p:grpSpPr>
        <p:sp>
          <p:nvSpPr>
            <p:cNvPr id="173" name="Google Shape;173;p8"/>
            <p:cNvSpPr/>
            <p:nvPr/>
          </p:nvSpPr>
          <p:spPr>
            <a:xfrm>
              <a:off x="0" y="0"/>
              <a:ext cx="812800" cy="2709333"/>
            </a:xfrm>
            <a:custGeom>
              <a:rect b="b" l="l" r="r" t="t"/>
              <a:pathLst>
                <a:path extrusionOk="0" h="2709333" w="812800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8"/>
            <p:cNvSpPr txBox="1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2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5" name="Google Shape;175;p8"/>
          <p:cNvSpPr txBox="1"/>
          <p:nvPr/>
        </p:nvSpPr>
        <p:spPr>
          <a:xfrm>
            <a:off x="1028700" y="1133475"/>
            <a:ext cx="13732155" cy="650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303870"/>
                </a:solidFill>
                <a:latin typeface="DM Sans"/>
                <a:ea typeface="DM Sans"/>
                <a:cs typeface="DM Sans"/>
                <a:sym typeface="DM Sans"/>
              </a:rPr>
              <a:t>NETWORK HEALTH ASSESSMENT</a:t>
            </a:r>
            <a:endParaRPr/>
          </a:p>
        </p:txBody>
      </p:sp>
      <p:sp>
        <p:nvSpPr>
          <p:cNvPr id="176" name="Google Shape;176;p8"/>
          <p:cNvSpPr txBox="1"/>
          <p:nvPr/>
        </p:nvSpPr>
        <p:spPr>
          <a:xfrm>
            <a:off x="1028700" y="2075147"/>
            <a:ext cx="14267318" cy="432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7035" lvl="1" marL="734069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3400"/>
              <a:buFont typeface="Arial"/>
              <a:buChar char="•"/>
            </a:pPr>
            <a:r>
              <a:rPr b="0" i="0" lang="en-US" sz="3400" u="none" cap="none" strike="noStrike">
                <a:solidFill>
                  <a:srgbClr val="303870"/>
                </a:solidFill>
                <a:latin typeface="DM Sans"/>
                <a:ea typeface="DM Sans"/>
                <a:cs typeface="DM Sans"/>
                <a:sym typeface="DM Sans"/>
              </a:rPr>
              <a:t>PROPOSED NETWORK HEALTH SCORE</a:t>
            </a:r>
            <a:endParaRPr/>
          </a:p>
        </p:txBody>
      </p:sp>
      <p:sp>
        <p:nvSpPr>
          <p:cNvPr id="177" name="Google Shape;177;p8"/>
          <p:cNvSpPr txBox="1"/>
          <p:nvPr/>
        </p:nvSpPr>
        <p:spPr>
          <a:xfrm>
            <a:off x="2017186" y="2688812"/>
            <a:ext cx="6697337" cy="37307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46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| Category           | Example Metrics                |</a:t>
            </a:r>
            <a:endParaRPr/>
          </a:p>
          <a:p>
            <a:pPr indent="0" lvl="0" marL="0" marR="0" rtl="0" algn="l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46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|-----------------|----------------------------|</a:t>
            </a:r>
            <a:endParaRPr/>
          </a:p>
          <a:p>
            <a:pPr indent="0" lvl="0" marL="0" marR="0" rtl="0" algn="l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46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| Availability        | Uptime / downtime           |</a:t>
            </a:r>
            <a:endParaRPr/>
          </a:p>
          <a:p>
            <a:pPr indent="0" lvl="0" marL="0" marR="0" rtl="0" algn="l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46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| Performance     | Latency                               |</a:t>
            </a:r>
            <a:endParaRPr/>
          </a:p>
          <a:p>
            <a:pPr indent="0" lvl="0" marL="0" marR="0" rtl="0" algn="l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46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| Reliability          | Packet loss                         |</a:t>
            </a:r>
            <a:endParaRPr/>
          </a:p>
          <a:p>
            <a:pPr indent="0" lvl="0" marL="0" marR="0" rtl="0" algn="l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46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| Capacity            | Bandwidth utilization        |</a:t>
            </a:r>
            <a:endParaRPr/>
          </a:p>
          <a:p>
            <a:pPr indent="0" lvl="0" marL="0" marR="0" rtl="0" algn="l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46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| Security             | Unauthorized devices        |</a:t>
            </a:r>
            <a:endParaRPr/>
          </a:p>
          <a:p>
            <a:pPr indent="0" lvl="0" marL="0" marR="0" rtl="0" algn="l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46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| Infrastructure    | Documentation coverage  |</a:t>
            </a:r>
            <a:endParaRPr/>
          </a:p>
          <a:p>
            <a:pPr indent="0" lvl="0" marL="0" marR="0" rtl="0" algn="l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46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| Operations        | Configuration status          |</a:t>
            </a:r>
            <a:endParaRPr/>
          </a:p>
        </p:txBody>
      </p:sp>
      <p:sp>
        <p:nvSpPr>
          <p:cNvPr id="178" name="Google Shape;178;p8"/>
          <p:cNvSpPr txBox="1"/>
          <p:nvPr/>
        </p:nvSpPr>
        <p:spPr>
          <a:xfrm>
            <a:off x="6006929" y="6941219"/>
            <a:ext cx="8023746" cy="432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7035" lvl="1" marL="734069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3400"/>
              <a:buFont typeface="Arial"/>
              <a:buChar char="•"/>
            </a:pPr>
            <a:r>
              <a:rPr b="0" i="0" lang="en-US" sz="3400" u="none" cap="none" strike="noStrike">
                <a:solidFill>
                  <a:srgbClr val="303870"/>
                </a:solidFill>
                <a:latin typeface="DM Sans"/>
                <a:ea typeface="DM Sans"/>
                <a:cs typeface="DM Sans"/>
                <a:sym typeface="DM Sans"/>
              </a:rPr>
              <a:t>EXAMPLE</a:t>
            </a:r>
            <a:endParaRPr/>
          </a:p>
        </p:txBody>
      </p:sp>
      <p:sp>
        <p:nvSpPr>
          <p:cNvPr id="179" name="Google Shape;179;p8"/>
          <p:cNvSpPr txBox="1"/>
          <p:nvPr/>
        </p:nvSpPr>
        <p:spPr>
          <a:xfrm>
            <a:off x="9144000" y="5383238"/>
            <a:ext cx="7529813" cy="45645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46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| Metric                   | Value    |</a:t>
            </a:r>
            <a:endParaRPr/>
          </a:p>
          <a:p>
            <a:pPr indent="0" lvl="0" marL="0" marR="0" rtl="0" algn="l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46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|-------------------|---------|</a:t>
            </a:r>
            <a:endParaRPr/>
          </a:p>
          <a:p>
            <a:pPr indent="0" lvl="0" marL="0" marR="0" rtl="0" algn="l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46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| Availability           | 98.9%  |</a:t>
            </a:r>
            <a:endParaRPr/>
          </a:p>
          <a:p>
            <a:pPr indent="0" lvl="0" marL="0" marR="0" rtl="0" algn="l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46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| Latency                 | 24 ms   |</a:t>
            </a:r>
            <a:endParaRPr/>
          </a:p>
          <a:p>
            <a:pPr indent="0" lvl="0" marL="0" marR="0" rtl="0" algn="l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46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| Packet Loss          | 0.8%     |</a:t>
            </a:r>
            <a:endParaRPr/>
          </a:p>
          <a:p>
            <a:pPr indent="0" lvl="0" marL="0" marR="0" rtl="0" algn="l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46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| Bandwidth Usage| 71%     |</a:t>
            </a:r>
            <a:endParaRPr/>
          </a:p>
          <a:p>
            <a:pPr indent="0" lvl="0" marL="0" marR="0" rtl="0" algn="l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46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| Known Devices     | 312      |</a:t>
            </a:r>
            <a:endParaRPr/>
          </a:p>
          <a:p>
            <a:pPr indent="0" lvl="0" marL="0" marR="0" rtl="0" algn="l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46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| Unknown Devices| 4           |</a:t>
            </a:r>
            <a:endParaRPr/>
          </a:p>
          <a:p>
            <a:pPr indent="0" lvl="0" marL="0" marR="0" rtl="0" algn="l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46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| Documentation     | 91%    |</a:t>
            </a:r>
            <a:endParaRPr/>
          </a:p>
          <a:p>
            <a:pPr indent="0" lvl="0" marL="0" marR="0" rtl="0" algn="l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46" u="none" cap="none" strike="noStrike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80" name="Google Shape;180;p8"/>
          <p:cNvSpPr txBox="1"/>
          <p:nvPr/>
        </p:nvSpPr>
        <p:spPr>
          <a:xfrm>
            <a:off x="9144000" y="9602885"/>
            <a:ext cx="8023746" cy="1837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303870"/>
                </a:solidFill>
                <a:latin typeface="DM Sans"/>
                <a:ea typeface="DM Sans"/>
                <a:cs typeface="DM Sans"/>
                <a:sym typeface="DM Sans"/>
              </a:rPr>
              <a:t>THESE ARE DEMO VALUES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EDE2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" name="Google Shape;185;p9"/>
          <p:cNvGrpSpPr/>
          <p:nvPr/>
        </p:nvGrpSpPr>
        <p:grpSpPr>
          <a:xfrm>
            <a:off x="17259300" y="-325842"/>
            <a:ext cx="3086100" cy="10648652"/>
            <a:chOff x="0" y="-95250"/>
            <a:chExt cx="812800" cy="2804583"/>
          </a:xfrm>
        </p:grpSpPr>
        <p:sp>
          <p:nvSpPr>
            <p:cNvPr id="186" name="Google Shape;186;p9"/>
            <p:cNvSpPr/>
            <p:nvPr/>
          </p:nvSpPr>
          <p:spPr>
            <a:xfrm>
              <a:off x="0" y="0"/>
              <a:ext cx="812800" cy="2709333"/>
            </a:xfrm>
            <a:custGeom>
              <a:rect b="b" l="l" r="r" t="t"/>
              <a:pathLst>
                <a:path extrusionOk="0" h="2709333" w="812800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9"/>
            <p:cNvSpPr txBox="1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2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8" name="Google Shape;188;p9"/>
          <p:cNvSpPr txBox="1"/>
          <p:nvPr/>
        </p:nvSpPr>
        <p:spPr>
          <a:xfrm>
            <a:off x="1028700" y="1133475"/>
            <a:ext cx="13732155" cy="650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303870"/>
                </a:solidFill>
                <a:latin typeface="DM Sans"/>
                <a:ea typeface="DM Sans"/>
                <a:cs typeface="DM Sans"/>
                <a:sym typeface="DM Sans"/>
              </a:rPr>
              <a:t>AUTOMATED NETWORK HEALTH REPORT</a:t>
            </a:r>
            <a:endParaRPr/>
          </a:p>
        </p:txBody>
      </p:sp>
      <p:sp>
        <p:nvSpPr>
          <p:cNvPr id="189" name="Google Shape;189;p9"/>
          <p:cNvSpPr txBox="1"/>
          <p:nvPr/>
        </p:nvSpPr>
        <p:spPr>
          <a:xfrm>
            <a:off x="1028700" y="2075147"/>
            <a:ext cx="14267318" cy="432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7035" lvl="1" marL="734069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3400"/>
              <a:buFont typeface="Arial"/>
              <a:buChar char="•"/>
            </a:pPr>
            <a:r>
              <a:rPr b="0" i="0" lang="en-US" sz="3400" u="none" cap="none" strike="noStrike">
                <a:solidFill>
                  <a:srgbClr val="303870"/>
                </a:solidFill>
                <a:latin typeface="DM Sans"/>
                <a:ea typeface="DM Sans"/>
                <a:cs typeface="DM Sans"/>
                <a:sym typeface="DM Sans"/>
              </a:rPr>
              <a:t>FROM RAW DATA TO ACTIONABLE INFORMATION</a:t>
            </a:r>
            <a:endParaRPr/>
          </a:p>
        </p:txBody>
      </p:sp>
      <p:sp>
        <p:nvSpPr>
          <p:cNvPr id="190" name="Google Shape;190;p9"/>
          <p:cNvSpPr txBox="1"/>
          <p:nvPr/>
        </p:nvSpPr>
        <p:spPr>
          <a:xfrm>
            <a:off x="7442809" y="6570079"/>
            <a:ext cx="8023746" cy="432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7035" lvl="1" marL="734069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3400"/>
              <a:buFont typeface="Arial"/>
              <a:buChar char="•"/>
            </a:pPr>
            <a:r>
              <a:rPr b="0" i="0" lang="en-US" sz="3400" u="none" cap="none" strike="noStrike">
                <a:solidFill>
                  <a:srgbClr val="303870"/>
                </a:solidFill>
                <a:latin typeface="DM Sans"/>
                <a:ea typeface="DM Sans"/>
                <a:cs typeface="DM Sans"/>
                <a:sym typeface="DM Sans"/>
              </a:rPr>
              <a:t>EXAMPLE RECOMMENDATIONS</a:t>
            </a:r>
            <a:endParaRPr/>
          </a:p>
        </p:txBody>
      </p:sp>
      <p:sp>
        <p:nvSpPr>
          <p:cNvPr id="191" name="Google Shape;191;p9"/>
          <p:cNvSpPr txBox="1"/>
          <p:nvPr/>
        </p:nvSpPr>
        <p:spPr>
          <a:xfrm>
            <a:off x="2655196" y="2460212"/>
            <a:ext cx="3515166" cy="4102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38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Instead of only collecting data:</a:t>
            </a:r>
            <a:endParaRPr/>
          </a:p>
          <a:p>
            <a:pPr indent="0" lvl="0" marL="0" marR="0" rtl="0" algn="l">
              <a:lnSpc>
                <a:spcPct val="1400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38" u="none" cap="none" strike="noStrike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400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38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   Monitoring Data</a:t>
            </a:r>
            <a:endParaRPr/>
          </a:p>
          <a:p>
            <a:pPr indent="0" lvl="0" marL="0" marR="0" rtl="0" algn="l">
              <a:lnSpc>
                <a:spcPct val="1400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38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     ↓</a:t>
            </a:r>
            <a:endParaRPr/>
          </a:p>
          <a:p>
            <a:pPr indent="0" lvl="0" marL="0" marR="0" rtl="0" algn="l">
              <a:lnSpc>
                <a:spcPct val="1400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38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   Analysis</a:t>
            </a:r>
            <a:endParaRPr/>
          </a:p>
          <a:p>
            <a:pPr indent="0" lvl="0" marL="0" marR="0" rtl="0" algn="l">
              <a:lnSpc>
                <a:spcPct val="1400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38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     ↓</a:t>
            </a:r>
            <a:endParaRPr/>
          </a:p>
          <a:p>
            <a:pPr indent="0" lvl="0" marL="0" marR="0" rtl="0" algn="l">
              <a:lnSpc>
                <a:spcPct val="1400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38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   Health Assessment</a:t>
            </a:r>
            <a:endParaRPr/>
          </a:p>
          <a:p>
            <a:pPr indent="0" lvl="0" marL="0" marR="0" rtl="0" algn="l">
              <a:lnSpc>
                <a:spcPct val="1400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38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     ↓</a:t>
            </a:r>
            <a:endParaRPr/>
          </a:p>
          <a:p>
            <a:pPr indent="0" lvl="0" marL="0" marR="0" rtl="0" algn="l">
              <a:lnSpc>
                <a:spcPct val="1400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38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   Identify Problems</a:t>
            </a:r>
            <a:endParaRPr/>
          </a:p>
          <a:p>
            <a:pPr indent="0" lvl="0" marL="0" marR="0" rtl="0" algn="l">
              <a:lnSpc>
                <a:spcPct val="1400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38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     ↓</a:t>
            </a:r>
            <a:endParaRPr/>
          </a:p>
          <a:p>
            <a:pPr indent="0" lvl="0" marL="0" marR="0" rtl="0" algn="l">
              <a:lnSpc>
                <a:spcPct val="1400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38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   Recommendations</a:t>
            </a:r>
            <a:endParaRPr/>
          </a:p>
          <a:p>
            <a:pPr indent="0" lvl="0" marL="0" marR="0" rtl="0" algn="l">
              <a:lnSpc>
                <a:spcPct val="1400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38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   </a:t>
            </a:r>
            <a:endParaRPr/>
          </a:p>
        </p:txBody>
      </p:sp>
      <p:sp>
        <p:nvSpPr>
          <p:cNvPr id="192" name="Google Shape;192;p9"/>
          <p:cNvSpPr txBox="1"/>
          <p:nvPr/>
        </p:nvSpPr>
        <p:spPr>
          <a:xfrm>
            <a:off x="8456543" y="6955144"/>
            <a:ext cx="5997729" cy="2392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09302" lvl="1" marL="418603" marR="0" rtl="0" algn="l">
              <a:lnSpc>
                <a:spcPct val="140041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1937"/>
              <a:buFont typeface="Arial"/>
              <a:buChar char="•"/>
            </a:pPr>
            <a:r>
              <a:rPr b="0" i="0" lang="en-US" sz="1938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Investigate high bandwidth utilization.</a:t>
            </a:r>
            <a:endParaRPr/>
          </a:p>
          <a:p>
            <a:pPr indent="-209302" lvl="1" marL="418603" marR="0" rtl="0" algn="l">
              <a:lnSpc>
                <a:spcPct val="140041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1937"/>
              <a:buFont typeface="Arial"/>
              <a:buChar char="•"/>
            </a:pPr>
            <a:r>
              <a:rPr b="0" i="0" lang="en-US" sz="1938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Register unidentified devices.</a:t>
            </a:r>
            <a:endParaRPr/>
          </a:p>
          <a:p>
            <a:pPr indent="-209302" lvl="1" marL="418603" marR="0" rtl="0" algn="l">
              <a:lnSpc>
                <a:spcPct val="140041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1937"/>
              <a:buFont typeface="Arial"/>
              <a:buChar char="•"/>
            </a:pPr>
            <a:r>
              <a:rPr b="0" i="0" lang="en-US" sz="1938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Review failed interfaces.</a:t>
            </a:r>
            <a:endParaRPr/>
          </a:p>
          <a:p>
            <a:pPr indent="-209302" lvl="1" marL="418603" marR="0" rtl="0" algn="l">
              <a:lnSpc>
                <a:spcPct val="140041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1937"/>
              <a:buFont typeface="Arial"/>
              <a:buChar char="•"/>
            </a:pPr>
            <a:r>
              <a:rPr b="0" i="0" lang="en-US" sz="1938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Update incomplete topology documentation.</a:t>
            </a:r>
            <a:endParaRPr/>
          </a:p>
          <a:p>
            <a:pPr indent="-209302" lvl="1" marL="418603" marR="0" rtl="0" algn="l">
              <a:lnSpc>
                <a:spcPct val="140041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1937"/>
              <a:buFont typeface="Arial"/>
              <a:buChar char="•"/>
            </a:pPr>
            <a:r>
              <a:rPr b="0" i="0" lang="en-US" sz="1938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Investigate recurring packet loss.</a:t>
            </a:r>
            <a:endParaRPr/>
          </a:p>
          <a:p>
            <a:pPr indent="-209302" lvl="1" marL="418603" marR="0" rtl="0" algn="l">
              <a:lnSpc>
                <a:spcPct val="140041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1937"/>
              <a:buFont typeface="Arial"/>
              <a:buChar char="•"/>
            </a:pPr>
            <a:r>
              <a:rPr b="0" i="0" lang="en-US" sz="1938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Review WAN failover status.</a:t>
            </a:r>
            <a:endParaRPr/>
          </a:p>
          <a:p>
            <a:pPr indent="0" lvl="0" marL="0" marR="0" rtl="0" algn="l">
              <a:lnSpc>
                <a:spcPct val="1400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38" u="none" cap="none" strike="noStrike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EDE2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7" name="Google Shape;197;p10"/>
          <p:cNvGrpSpPr/>
          <p:nvPr/>
        </p:nvGrpSpPr>
        <p:grpSpPr>
          <a:xfrm>
            <a:off x="17259300" y="-325842"/>
            <a:ext cx="3086100" cy="10648652"/>
            <a:chOff x="0" y="-95250"/>
            <a:chExt cx="812800" cy="2804583"/>
          </a:xfrm>
        </p:grpSpPr>
        <p:sp>
          <p:nvSpPr>
            <p:cNvPr id="198" name="Google Shape;198;p10"/>
            <p:cNvSpPr/>
            <p:nvPr/>
          </p:nvSpPr>
          <p:spPr>
            <a:xfrm>
              <a:off x="0" y="0"/>
              <a:ext cx="812800" cy="2709333"/>
            </a:xfrm>
            <a:custGeom>
              <a:rect b="b" l="l" r="r" t="t"/>
              <a:pathLst>
                <a:path extrusionOk="0" h="2709333" w="812800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10"/>
            <p:cNvSpPr txBox="1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2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0" name="Google Shape;200;p10"/>
          <p:cNvSpPr txBox="1"/>
          <p:nvPr/>
        </p:nvSpPr>
        <p:spPr>
          <a:xfrm>
            <a:off x="1028700" y="1133475"/>
            <a:ext cx="13732155" cy="650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303870"/>
                </a:solidFill>
                <a:latin typeface="DM Sans"/>
                <a:ea typeface="DM Sans"/>
                <a:cs typeface="DM Sans"/>
                <a:sym typeface="DM Sans"/>
              </a:rPr>
              <a:t> MONITORING &amp; PERFORMANCE</a:t>
            </a:r>
            <a:endParaRPr/>
          </a:p>
        </p:txBody>
      </p:sp>
      <p:sp>
        <p:nvSpPr>
          <p:cNvPr id="201" name="Google Shape;201;p10"/>
          <p:cNvSpPr txBox="1"/>
          <p:nvPr/>
        </p:nvSpPr>
        <p:spPr>
          <a:xfrm>
            <a:off x="1047750" y="2075147"/>
            <a:ext cx="14267318" cy="432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7035" lvl="1" marL="734069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3400"/>
              <a:buFont typeface="Arial"/>
              <a:buChar char="•"/>
            </a:pPr>
            <a:r>
              <a:rPr b="0" i="0" lang="en-US" sz="3400" u="none" cap="none" strike="noStrike">
                <a:solidFill>
                  <a:srgbClr val="303870"/>
                </a:solidFill>
                <a:latin typeface="DM Sans"/>
                <a:ea typeface="DM Sans"/>
                <a:cs typeface="DM Sans"/>
                <a:sym typeface="DM Sans"/>
              </a:rPr>
              <a:t>WHAT WILL BE MEASURED?</a:t>
            </a:r>
            <a:endParaRPr/>
          </a:p>
        </p:txBody>
      </p:sp>
      <p:sp>
        <p:nvSpPr>
          <p:cNvPr id="202" name="Google Shape;202;p10"/>
          <p:cNvSpPr txBox="1"/>
          <p:nvPr/>
        </p:nvSpPr>
        <p:spPr>
          <a:xfrm>
            <a:off x="2356900" y="2574512"/>
            <a:ext cx="4671974" cy="60241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34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Network Performance</a:t>
            </a:r>
            <a:endParaRPr/>
          </a:p>
          <a:p>
            <a:pPr indent="-230431" lvl="1" marL="460862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2134"/>
              <a:buFont typeface="Arial"/>
              <a:buChar char="•"/>
            </a:pPr>
            <a:r>
              <a:rPr b="0" i="0" lang="en-US" sz="2134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Latency</a:t>
            </a:r>
            <a:endParaRPr/>
          </a:p>
          <a:p>
            <a:pPr indent="-230431" lvl="1" marL="460862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2134"/>
              <a:buFont typeface="Arial"/>
              <a:buChar char="•"/>
            </a:pPr>
            <a:r>
              <a:rPr b="0" i="0" lang="en-US" sz="2134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Packet loss</a:t>
            </a:r>
            <a:endParaRPr/>
          </a:p>
          <a:p>
            <a:pPr indent="-230431" lvl="1" marL="460862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2134"/>
              <a:buFont typeface="Arial"/>
              <a:buChar char="•"/>
            </a:pPr>
            <a:r>
              <a:rPr b="0" i="0" lang="en-US" sz="2134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Bandwidth utilization</a:t>
            </a:r>
            <a:endParaRPr/>
          </a:p>
          <a:p>
            <a:pPr indent="-230431" lvl="1" marL="460862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2134"/>
              <a:buFont typeface="Arial"/>
              <a:buChar char="•"/>
            </a:pPr>
            <a:r>
              <a:rPr b="0" i="0" lang="en-US" sz="2134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Interface utilization</a:t>
            </a:r>
            <a:endParaRPr/>
          </a:p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34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Reliability</a:t>
            </a:r>
            <a:endParaRPr/>
          </a:p>
          <a:p>
            <a:pPr indent="-230431" lvl="1" marL="460862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2134"/>
              <a:buFont typeface="Arial"/>
              <a:buChar char="•"/>
            </a:pPr>
            <a:r>
              <a:rPr b="0" i="0" lang="en-US" sz="2134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Uptime</a:t>
            </a:r>
            <a:endParaRPr/>
          </a:p>
          <a:p>
            <a:pPr indent="-230431" lvl="1" marL="460862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2134"/>
              <a:buFont typeface="Arial"/>
              <a:buChar char="•"/>
            </a:pPr>
            <a:r>
              <a:rPr b="0" i="0" lang="en-US" sz="2134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Downtime</a:t>
            </a:r>
            <a:endParaRPr/>
          </a:p>
          <a:p>
            <a:pPr indent="-230431" lvl="1" marL="460862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2134"/>
              <a:buFont typeface="Arial"/>
              <a:buChar char="•"/>
            </a:pPr>
            <a:r>
              <a:rPr b="0" i="0" lang="en-US" sz="2134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Link failures</a:t>
            </a:r>
            <a:endParaRPr/>
          </a:p>
          <a:p>
            <a:pPr indent="-230431" lvl="1" marL="460862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2134"/>
              <a:buFont typeface="Arial"/>
              <a:buChar char="•"/>
            </a:pPr>
            <a:r>
              <a:rPr b="0" i="0" lang="en-US" sz="2134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Device availability</a:t>
            </a:r>
            <a:endParaRPr/>
          </a:p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34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Operational Metrics</a:t>
            </a:r>
            <a:endParaRPr/>
          </a:p>
          <a:p>
            <a:pPr indent="-230431" lvl="1" marL="460862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2134"/>
              <a:buFont typeface="Arial"/>
              <a:buChar char="•"/>
            </a:pPr>
            <a:r>
              <a:rPr b="0" i="0" lang="en-US" sz="2134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Monitoring coverage</a:t>
            </a:r>
            <a:endParaRPr/>
          </a:p>
          <a:p>
            <a:pPr indent="-230431" lvl="1" marL="460862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2134"/>
              <a:buFont typeface="Arial"/>
              <a:buChar char="•"/>
            </a:pPr>
            <a:r>
              <a:rPr b="0" i="0" lang="en-US" sz="2134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Documentation coverage</a:t>
            </a:r>
            <a:endParaRPr/>
          </a:p>
          <a:p>
            <a:pPr indent="-230431" lvl="1" marL="460862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2134"/>
              <a:buFont typeface="Arial"/>
              <a:buChar char="•"/>
            </a:pPr>
            <a:r>
              <a:rPr b="0" i="0" lang="en-US" sz="2134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Device inventory</a:t>
            </a:r>
            <a:endParaRPr/>
          </a:p>
          <a:p>
            <a:pPr indent="-230431" lvl="1" marL="460862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2134"/>
              <a:buFont typeface="Arial"/>
              <a:buChar char="•"/>
            </a:pPr>
            <a:r>
              <a:rPr b="0" i="0" lang="en-US" sz="2134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Incident detection</a:t>
            </a:r>
            <a:endParaRPr/>
          </a:p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34" u="none" cap="none" strike="noStrike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EDE2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7" name="Google Shape;207;p11"/>
          <p:cNvGrpSpPr/>
          <p:nvPr/>
        </p:nvGrpSpPr>
        <p:grpSpPr>
          <a:xfrm>
            <a:off x="17259300" y="-325842"/>
            <a:ext cx="3086100" cy="10648652"/>
            <a:chOff x="0" y="-95250"/>
            <a:chExt cx="812800" cy="2804583"/>
          </a:xfrm>
        </p:grpSpPr>
        <p:sp>
          <p:nvSpPr>
            <p:cNvPr id="208" name="Google Shape;208;p11"/>
            <p:cNvSpPr/>
            <p:nvPr/>
          </p:nvSpPr>
          <p:spPr>
            <a:xfrm>
              <a:off x="0" y="0"/>
              <a:ext cx="812800" cy="2709333"/>
            </a:xfrm>
            <a:custGeom>
              <a:rect b="b" l="l" r="r" t="t"/>
              <a:pathLst>
                <a:path extrusionOk="0" h="2709333" w="812800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11"/>
            <p:cNvSpPr txBox="1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2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0" name="Google Shape;210;p11"/>
          <p:cNvSpPr txBox="1"/>
          <p:nvPr/>
        </p:nvSpPr>
        <p:spPr>
          <a:xfrm>
            <a:off x="1028700" y="1133475"/>
            <a:ext cx="13732155" cy="650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303870"/>
                </a:solidFill>
                <a:latin typeface="DM Sans"/>
                <a:ea typeface="DM Sans"/>
                <a:cs typeface="DM Sans"/>
                <a:sym typeface="DM Sans"/>
              </a:rPr>
              <a:t>BANDWIDTH &amp; QOS</a:t>
            </a:r>
            <a:endParaRPr/>
          </a:p>
        </p:txBody>
      </p:sp>
      <p:sp>
        <p:nvSpPr>
          <p:cNvPr id="211" name="Google Shape;211;p11"/>
          <p:cNvSpPr txBox="1"/>
          <p:nvPr/>
        </p:nvSpPr>
        <p:spPr>
          <a:xfrm>
            <a:off x="1047750" y="2075147"/>
            <a:ext cx="14267318" cy="432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7035" lvl="1" marL="734069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3400"/>
              <a:buFont typeface="Arial"/>
              <a:buChar char="•"/>
            </a:pPr>
            <a:r>
              <a:rPr b="0" i="0" lang="en-US" sz="3400" u="none" cap="none" strike="noStrike">
                <a:solidFill>
                  <a:srgbClr val="303870"/>
                </a:solidFill>
                <a:latin typeface="DM Sans"/>
                <a:ea typeface="DM Sans"/>
                <a:cs typeface="DM Sans"/>
                <a:sym typeface="DM Sans"/>
              </a:rPr>
              <a:t>BANDWIDTH OPTIMIZATION</a:t>
            </a:r>
            <a:endParaRPr/>
          </a:p>
        </p:txBody>
      </p:sp>
      <p:sp>
        <p:nvSpPr>
          <p:cNvPr id="212" name="Google Shape;212;p11"/>
          <p:cNvSpPr txBox="1"/>
          <p:nvPr/>
        </p:nvSpPr>
        <p:spPr>
          <a:xfrm>
            <a:off x="2421703" y="2612612"/>
            <a:ext cx="4913017" cy="5151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44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Assessment</a:t>
            </a:r>
            <a:endParaRPr/>
          </a:p>
          <a:p>
            <a:pPr indent="-242320" lvl="1" marL="484639" marR="0" rtl="0" algn="l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2244"/>
              <a:buFont typeface="Arial"/>
              <a:buChar char="•"/>
            </a:pPr>
            <a:r>
              <a:rPr b="0" i="0" lang="en-US" sz="2244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Identify peak usage</a:t>
            </a:r>
            <a:endParaRPr/>
          </a:p>
          <a:p>
            <a:pPr indent="-242320" lvl="1" marL="484639" marR="0" rtl="0" algn="l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2244"/>
              <a:buFont typeface="Arial"/>
              <a:buChar char="•"/>
            </a:pPr>
            <a:r>
              <a:rPr b="0" i="0" lang="en-US" sz="2244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Measure utilization</a:t>
            </a:r>
            <a:endParaRPr/>
          </a:p>
          <a:p>
            <a:pPr indent="-242320" lvl="1" marL="484639" marR="0" rtl="0" algn="l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2244"/>
              <a:buFont typeface="Arial"/>
              <a:buChar char="•"/>
            </a:pPr>
            <a:r>
              <a:rPr b="0" i="0" lang="en-US" sz="2244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Identify traffic bottlenecks</a:t>
            </a:r>
            <a:endParaRPr/>
          </a:p>
          <a:p>
            <a:pPr indent="-242320" lvl="1" marL="484639" marR="0" rtl="0" algn="l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2244"/>
              <a:buFont typeface="Arial"/>
              <a:buChar char="•"/>
            </a:pPr>
            <a:r>
              <a:rPr b="0" i="0" lang="en-US" sz="2244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Analyze congestion</a:t>
            </a:r>
            <a:endParaRPr/>
          </a:p>
          <a:p>
            <a:pPr indent="-242320" lvl="1" marL="484639" marR="0" rtl="0" algn="l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2244"/>
              <a:buFont typeface="Arial"/>
              <a:buChar char="•"/>
            </a:pPr>
            <a:r>
              <a:rPr b="0" i="0" lang="en-US" sz="2244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Measure latency and packet loss</a:t>
            </a:r>
            <a:endParaRPr/>
          </a:p>
          <a:p>
            <a:pPr indent="0" lvl="0" marL="0" marR="0" rtl="0" algn="l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44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Proposed improvements</a:t>
            </a:r>
            <a:endParaRPr/>
          </a:p>
          <a:p>
            <a:pPr indent="-242320" lvl="1" marL="484639" marR="0" rtl="0" algn="l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2244"/>
              <a:buFont typeface="Arial"/>
              <a:buChar char="•"/>
            </a:pPr>
            <a:r>
              <a:rPr b="0" i="0" lang="en-US" sz="2244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Traffic classification</a:t>
            </a:r>
            <a:endParaRPr/>
          </a:p>
          <a:p>
            <a:pPr indent="-242320" lvl="1" marL="484639" marR="0" rtl="0" algn="l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2244"/>
              <a:buFont typeface="Arial"/>
              <a:buChar char="•"/>
            </a:pPr>
            <a:r>
              <a:rPr b="0" i="0" lang="en-US" sz="2244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QoS policies</a:t>
            </a:r>
            <a:endParaRPr/>
          </a:p>
          <a:p>
            <a:pPr indent="-242320" lvl="1" marL="484639" marR="0" rtl="0" algn="l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2244"/>
              <a:buFont typeface="Arial"/>
              <a:buChar char="•"/>
            </a:pPr>
            <a:r>
              <a:rPr b="0" i="0" lang="en-US" sz="2244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Fair bandwidth allocation</a:t>
            </a:r>
            <a:endParaRPr/>
          </a:p>
          <a:p>
            <a:pPr indent="-242320" lvl="1" marL="484639" marR="0" rtl="0" algn="l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2244"/>
              <a:buFont typeface="Arial"/>
              <a:buChar char="•"/>
            </a:pPr>
            <a:r>
              <a:rPr b="0" i="0" lang="en-US" sz="2244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Priority for critical services</a:t>
            </a:r>
            <a:endParaRPr/>
          </a:p>
          <a:p>
            <a:pPr indent="-242320" lvl="1" marL="484639" marR="0" rtl="0" algn="l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2244"/>
              <a:buFont typeface="Arial"/>
              <a:buChar char="•"/>
            </a:pPr>
            <a:r>
              <a:rPr b="0" i="0" lang="en-US" sz="2244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Continuous utilization monitoring</a:t>
            </a:r>
            <a:endParaRPr/>
          </a:p>
          <a:p>
            <a:pPr indent="0" lvl="0" marL="0" marR="0" rtl="0" algn="l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44" u="none" cap="none" strike="noStrike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EDE2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7" name="Google Shape;217;p12"/>
          <p:cNvGrpSpPr/>
          <p:nvPr/>
        </p:nvGrpSpPr>
        <p:grpSpPr>
          <a:xfrm>
            <a:off x="17259300" y="-325842"/>
            <a:ext cx="3086100" cy="10648652"/>
            <a:chOff x="0" y="-95250"/>
            <a:chExt cx="812800" cy="2804583"/>
          </a:xfrm>
        </p:grpSpPr>
        <p:sp>
          <p:nvSpPr>
            <p:cNvPr id="218" name="Google Shape;218;p12"/>
            <p:cNvSpPr/>
            <p:nvPr/>
          </p:nvSpPr>
          <p:spPr>
            <a:xfrm>
              <a:off x="0" y="0"/>
              <a:ext cx="812800" cy="2709333"/>
            </a:xfrm>
            <a:custGeom>
              <a:rect b="b" l="l" r="r" t="t"/>
              <a:pathLst>
                <a:path extrusionOk="0" h="2709333" w="812800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12"/>
            <p:cNvSpPr txBox="1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2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0" name="Google Shape;220;p12"/>
          <p:cNvSpPr txBox="1"/>
          <p:nvPr/>
        </p:nvSpPr>
        <p:spPr>
          <a:xfrm>
            <a:off x="1028700" y="1133475"/>
            <a:ext cx="13732155" cy="650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303870"/>
                </a:solidFill>
                <a:latin typeface="DM Sans"/>
                <a:ea typeface="DM Sans"/>
                <a:cs typeface="DM Sans"/>
                <a:sym typeface="DM Sans"/>
              </a:rPr>
              <a:t> SECURITY &amp; ACCESS CONTROL</a:t>
            </a:r>
            <a:endParaRPr/>
          </a:p>
        </p:txBody>
      </p:sp>
      <p:sp>
        <p:nvSpPr>
          <p:cNvPr id="221" name="Google Shape;221;p12"/>
          <p:cNvSpPr txBox="1"/>
          <p:nvPr/>
        </p:nvSpPr>
        <p:spPr>
          <a:xfrm>
            <a:off x="1047750" y="2075147"/>
            <a:ext cx="14267318" cy="432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7035" lvl="1" marL="734069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3400"/>
              <a:buFont typeface="Arial"/>
              <a:buChar char="•"/>
            </a:pPr>
            <a:r>
              <a:rPr b="0" i="0" lang="en-US" sz="3400" u="none" cap="none" strike="noStrike">
                <a:solidFill>
                  <a:srgbClr val="303870"/>
                </a:solidFill>
                <a:latin typeface="DM Sans"/>
                <a:ea typeface="DM Sans"/>
                <a:cs typeface="DM Sans"/>
                <a:sym typeface="DM Sans"/>
              </a:rPr>
              <a:t>CAMPUS NETWORK SECURITY</a:t>
            </a:r>
            <a:endParaRPr/>
          </a:p>
        </p:txBody>
      </p:sp>
      <p:sp>
        <p:nvSpPr>
          <p:cNvPr id="222" name="Google Shape;222;p12"/>
          <p:cNvSpPr txBox="1"/>
          <p:nvPr/>
        </p:nvSpPr>
        <p:spPr>
          <a:xfrm>
            <a:off x="2421703" y="2612612"/>
            <a:ext cx="4913017" cy="58484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44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Areas of assessment</a:t>
            </a:r>
            <a:endParaRPr/>
          </a:p>
          <a:p>
            <a:pPr indent="-242320" lvl="1" marL="484640" marR="0" rtl="0" algn="l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2244"/>
              <a:buFont typeface="Arial"/>
              <a:buChar char="•"/>
            </a:pPr>
            <a:r>
              <a:rPr b="0" i="0" lang="en-US" sz="2244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Unauthorized devices</a:t>
            </a:r>
            <a:endParaRPr/>
          </a:p>
          <a:p>
            <a:pPr indent="-242320" lvl="1" marL="484640" marR="0" rtl="0" algn="l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2244"/>
              <a:buFont typeface="Arial"/>
              <a:buChar char="•"/>
            </a:pPr>
            <a:r>
              <a:rPr b="0" i="0" lang="en-US" sz="2244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Unauthorized access</a:t>
            </a:r>
            <a:endParaRPr/>
          </a:p>
          <a:p>
            <a:pPr indent="-242320" lvl="1" marL="484640" marR="0" rtl="0" algn="l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2244"/>
              <a:buFont typeface="Arial"/>
              <a:buChar char="•"/>
            </a:pPr>
            <a:r>
              <a:rPr b="0" i="0" lang="en-US" sz="2244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Network segmentation</a:t>
            </a:r>
            <a:endParaRPr/>
          </a:p>
          <a:p>
            <a:pPr indent="-242320" lvl="1" marL="484640" marR="0" rtl="0" algn="l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2244"/>
              <a:buFont typeface="Arial"/>
              <a:buChar char="•"/>
            </a:pPr>
            <a:r>
              <a:rPr b="0" i="0" lang="en-US" sz="2244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Management access</a:t>
            </a:r>
            <a:endParaRPr/>
          </a:p>
          <a:p>
            <a:pPr indent="-242320" lvl="1" marL="484640" marR="0" rtl="0" algn="l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2244"/>
              <a:buFont typeface="Arial"/>
              <a:buChar char="•"/>
            </a:pPr>
            <a:r>
              <a:rPr b="0" i="0" lang="en-US" sz="2244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Guest access</a:t>
            </a:r>
            <a:endParaRPr/>
          </a:p>
          <a:p>
            <a:pPr indent="-242320" lvl="1" marL="484640" marR="0" rtl="0" algn="l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2244"/>
              <a:buFont typeface="Arial"/>
              <a:buChar char="•"/>
            </a:pPr>
            <a:r>
              <a:rPr b="0" i="0" lang="en-US" sz="2244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Device visibility</a:t>
            </a:r>
            <a:endParaRPr/>
          </a:p>
          <a:p>
            <a:pPr indent="0" lvl="0" marL="0" marR="0" rtl="0" algn="l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44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Proposed controls</a:t>
            </a:r>
            <a:endParaRPr/>
          </a:p>
          <a:p>
            <a:pPr indent="-242320" lvl="1" marL="484640" marR="0" rtl="0" algn="l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2244"/>
              <a:buFont typeface="Arial"/>
              <a:buChar char="•"/>
            </a:pPr>
            <a:r>
              <a:rPr b="0" i="0" lang="en-US" sz="2244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VLAN segmentation</a:t>
            </a:r>
            <a:endParaRPr/>
          </a:p>
          <a:p>
            <a:pPr indent="-242320" lvl="1" marL="484640" marR="0" rtl="0" algn="l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2244"/>
              <a:buFont typeface="Arial"/>
              <a:buChar char="•"/>
            </a:pPr>
            <a:r>
              <a:rPr b="0" i="0" lang="en-US" sz="2244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Access-control policies</a:t>
            </a:r>
            <a:endParaRPr/>
          </a:p>
          <a:p>
            <a:pPr indent="-242320" lvl="1" marL="484640" marR="0" rtl="0" algn="l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2244"/>
              <a:buFont typeface="Arial"/>
              <a:buChar char="•"/>
            </a:pPr>
            <a:r>
              <a:rPr b="0" i="0" lang="en-US" sz="2244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Authentication</a:t>
            </a:r>
            <a:endParaRPr/>
          </a:p>
          <a:p>
            <a:pPr indent="-242320" lvl="1" marL="484640" marR="0" rtl="0" algn="l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2244"/>
              <a:buFont typeface="Arial"/>
              <a:buChar char="•"/>
            </a:pPr>
            <a:r>
              <a:rPr b="0" i="0" lang="en-US" sz="2244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Guest isolation</a:t>
            </a:r>
            <a:endParaRPr/>
          </a:p>
          <a:p>
            <a:pPr indent="-242320" lvl="1" marL="484640" marR="0" rtl="0" algn="l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2244"/>
              <a:buFont typeface="Arial"/>
              <a:buChar char="•"/>
            </a:pPr>
            <a:r>
              <a:rPr b="0" i="0" lang="en-US" sz="2244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Management-network restrictions</a:t>
            </a:r>
            <a:endParaRPr/>
          </a:p>
          <a:p>
            <a:pPr indent="-242320" lvl="1" marL="484640" marR="0" rtl="0" algn="l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2244"/>
              <a:buFont typeface="Arial"/>
              <a:buChar char="•"/>
            </a:pPr>
            <a:r>
              <a:rPr b="0" i="0" lang="en-US" sz="2244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Device monitoring</a:t>
            </a:r>
            <a:endParaRPr/>
          </a:p>
          <a:p>
            <a:pPr indent="0" lvl="0" marL="0" marR="0" rtl="0" algn="l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44" u="none" cap="none" strike="noStrike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EDE2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7" name="Google Shape;227;p13"/>
          <p:cNvGrpSpPr/>
          <p:nvPr/>
        </p:nvGrpSpPr>
        <p:grpSpPr>
          <a:xfrm>
            <a:off x="17259300" y="-325842"/>
            <a:ext cx="3086100" cy="10648652"/>
            <a:chOff x="0" y="-95250"/>
            <a:chExt cx="812800" cy="2804583"/>
          </a:xfrm>
        </p:grpSpPr>
        <p:sp>
          <p:nvSpPr>
            <p:cNvPr id="228" name="Google Shape;228;p13"/>
            <p:cNvSpPr/>
            <p:nvPr/>
          </p:nvSpPr>
          <p:spPr>
            <a:xfrm>
              <a:off x="0" y="0"/>
              <a:ext cx="812800" cy="2709333"/>
            </a:xfrm>
            <a:custGeom>
              <a:rect b="b" l="l" r="r" t="t"/>
              <a:pathLst>
                <a:path extrusionOk="0" h="2709333" w="812800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13"/>
            <p:cNvSpPr txBox="1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2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0" name="Google Shape;230;p13"/>
          <p:cNvSpPr txBox="1"/>
          <p:nvPr/>
        </p:nvSpPr>
        <p:spPr>
          <a:xfrm>
            <a:off x="1028700" y="1133475"/>
            <a:ext cx="13732155" cy="650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303870"/>
                </a:solidFill>
                <a:latin typeface="DM Sans"/>
                <a:ea typeface="DM Sans"/>
                <a:cs typeface="DM Sans"/>
                <a:sym typeface="DM Sans"/>
              </a:rPr>
              <a:t>NETWORK SEGMENTATION</a:t>
            </a:r>
            <a:endParaRPr/>
          </a:p>
        </p:txBody>
      </p:sp>
      <p:sp>
        <p:nvSpPr>
          <p:cNvPr id="231" name="Google Shape;231;p13"/>
          <p:cNvSpPr txBox="1"/>
          <p:nvPr/>
        </p:nvSpPr>
        <p:spPr>
          <a:xfrm>
            <a:off x="1047750" y="2075147"/>
            <a:ext cx="14267318" cy="432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7035" lvl="1" marL="734069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3400"/>
              <a:buFont typeface="Arial"/>
              <a:buChar char="•"/>
            </a:pPr>
            <a:r>
              <a:rPr b="0" i="0" lang="en-US" sz="3400" u="none" cap="none" strike="noStrike">
                <a:solidFill>
                  <a:srgbClr val="303870"/>
                </a:solidFill>
                <a:latin typeface="DM Sans"/>
                <a:ea typeface="DM Sans"/>
                <a:cs typeface="DM Sans"/>
                <a:sym typeface="DM Sans"/>
              </a:rPr>
              <a:t>PROPOSED LOGICAL SEGMENTATION</a:t>
            </a:r>
            <a:endParaRPr/>
          </a:p>
        </p:txBody>
      </p:sp>
      <p:sp>
        <p:nvSpPr>
          <p:cNvPr id="232" name="Google Shape;232;p13"/>
          <p:cNvSpPr txBox="1"/>
          <p:nvPr/>
        </p:nvSpPr>
        <p:spPr>
          <a:xfrm>
            <a:off x="3370084" y="2688812"/>
            <a:ext cx="9622651" cy="36508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7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                                                   Core Network</a:t>
            </a:r>
            <a:endParaRPr/>
          </a:p>
          <a:p>
            <a:pPr indent="0" lvl="0" marL="0" marR="0" rtl="0" algn="l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7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                                                             │</a:t>
            </a:r>
            <a:endParaRPr/>
          </a:p>
          <a:p>
            <a:pPr indent="0" lvl="0" marL="0" marR="0" rtl="0" algn="l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7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      ┌──────────────┼──────────────┐</a:t>
            </a:r>
            <a:endParaRPr/>
          </a:p>
          <a:p>
            <a:pPr indent="0" lvl="0" marL="0" marR="0" rtl="0" algn="l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7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      │                                                    │                                                   │</a:t>
            </a:r>
            <a:endParaRPr/>
          </a:p>
          <a:p>
            <a:pPr indent="0" lvl="0" marL="0" marR="0" rtl="0" algn="l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7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   Students                                        Faculty                                         Admin</a:t>
            </a:r>
            <a:endParaRPr/>
          </a:p>
          <a:p>
            <a:pPr indent="0" lvl="0" marL="0" marR="0" rtl="0" algn="l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7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     VLAN                                             VLAN                                           VLAN</a:t>
            </a:r>
            <a:endParaRPr/>
          </a:p>
          <a:p>
            <a:pPr indent="0" lvl="0" marL="0" marR="0" rtl="0" algn="l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7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      │                                                    │                                                   │</a:t>
            </a:r>
            <a:endParaRPr/>
          </a:p>
          <a:p>
            <a:pPr indent="0" lvl="0" marL="0" marR="0" rtl="0" algn="l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7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      ├──────── Lab VLAN ────────────────|</a:t>
            </a:r>
            <a:endParaRPr/>
          </a:p>
          <a:p>
            <a:pPr indent="0" lvl="0" marL="0" marR="0" rtl="0" algn="l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7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      │                                                    │</a:t>
            </a:r>
            <a:endParaRPr/>
          </a:p>
          <a:p>
            <a:pPr indent="0" lvl="0" marL="0" marR="0" rtl="0" algn="l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7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   Guest VLAN                                                                                   Server VLAN</a:t>
            </a:r>
            <a:endParaRPr/>
          </a:p>
        </p:txBody>
      </p:sp>
      <p:sp>
        <p:nvSpPr>
          <p:cNvPr id="233" name="Google Shape;233;p13"/>
          <p:cNvSpPr txBox="1"/>
          <p:nvPr/>
        </p:nvSpPr>
        <p:spPr>
          <a:xfrm>
            <a:off x="1028700" y="6758297"/>
            <a:ext cx="8023746" cy="432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7035" lvl="1" marL="734069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3400"/>
              <a:buFont typeface="Arial"/>
              <a:buChar char="•"/>
            </a:pPr>
            <a:r>
              <a:rPr b="0" i="0" lang="en-US" sz="3400" u="none" cap="none" strike="noStrike">
                <a:solidFill>
                  <a:srgbClr val="303870"/>
                </a:solidFill>
                <a:latin typeface="DM Sans"/>
                <a:ea typeface="DM Sans"/>
                <a:cs typeface="DM Sans"/>
                <a:sym typeface="DM Sans"/>
              </a:rPr>
              <a:t>KEY IDEA</a:t>
            </a:r>
            <a:endParaRPr/>
          </a:p>
        </p:txBody>
      </p:sp>
      <p:sp>
        <p:nvSpPr>
          <p:cNvPr id="234" name="Google Shape;234;p13"/>
          <p:cNvSpPr txBox="1"/>
          <p:nvPr/>
        </p:nvSpPr>
        <p:spPr>
          <a:xfrm>
            <a:off x="1959584" y="7143363"/>
            <a:ext cx="14368833" cy="2837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89360" lvl="1" marL="57872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2680"/>
              <a:buFont typeface="Arial"/>
              <a:buChar char="•"/>
            </a:pPr>
            <a:r>
              <a:rPr b="0" i="0" lang="en-US" sz="2680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Better isolation</a:t>
            </a:r>
            <a:endParaRPr/>
          </a:p>
          <a:p>
            <a:pPr indent="-289360" lvl="1" marL="57872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2680"/>
              <a:buFont typeface="Arial"/>
              <a:buChar char="•"/>
            </a:pPr>
            <a:r>
              <a:rPr b="0" i="0" lang="en-US" sz="2680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Improved security</a:t>
            </a:r>
            <a:endParaRPr/>
          </a:p>
          <a:p>
            <a:pPr indent="-289360" lvl="1" marL="57872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2680"/>
              <a:buFont typeface="Arial"/>
              <a:buChar char="•"/>
            </a:pPr>
            <a:r>
              <a:rPr b="0" i="0" lang="en-US" sz="2680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Reduced unnecessary traffic</a:t>
            </a:r>
            <a:endParaRPr/>
          </a:p>
          <a:p>
            <a:pPr indent="-289360" lvl="1" marL="57872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2680"/>
              <a:buFont typeface="Arial"/>
              <a:buChar char="•"/>
            </a:pPr>
            <a:r>
              <a:rPr b="0" i="0" lang="en-US" sz="2680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Easier troubleshooting</a:t>
            </a:r>
            <a:endParaRPr/>
          </a:p>
          <a:p>
            <a:pPr indent="-289360" lvl="1" marL="57872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2680"/>
              <a:buFont typeface="Arial"/>
              <a:buChar char="•"/>
            </a:pPr>
            <a:r>
              <a:rPr b="0" i="0" lang="en-US" sz="2680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Policy-based access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680" u="none" cap="none" strike="noStrike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EDE2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9" name="Google Shape;239;p14"/>
          <p:cNvGrpSpPr/>
          <p:nvPr/>
        </p:nvGrpSpPr>
        <p:grpSpPr>
          <a:xfrm>
            <a:off x="17259300" y="-325842"/>
            <a:ext cx="3086100" cy="10648652"/>
            <a:chOff x="0" y="-95250"/>
            <a:chExt cx="812800" cy="2804583"/>
          </a:xfrm>
        </p:grpSpPr>
        <p:sp>
          <p:nvSpPr>
            <p:cNvPr id="240" name="Google Shape;240;p14"/>
            <p:cNvSpPr/>
            <p:nvPr/>
          </p:nvSpPr>
          <p:spPr>
            <a:xfrm>
              <a:off x="0" y="0"/>
              <a:ext cx="812800" cy="2709333"/>
            </a:xfrm>
            <a:custGeom>
              <a:rect b="b" l="l" r="r" t="t"/>
              <a:pathLst>
                <a:path extrusionOk="0" h="2709333" w="812800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14"/>
            <p:cNvSpPr txBox="1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2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2" name="Google Shape;242;p14"/>
          <p:cNvSpPr txBox="1"/>
          <p:nvPr/>
        </p:nvSpPr>
        <p:spPr>
          <a:xfrm>
            <a:off x="1028700" y="1133475"/>
            <a:ext cx="13732155" cy="650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303870"/>
                </a:solidFill>
                <a:latin typeface="DM Sans"/>
                <a:ea typeface="DM Sans"/>
                <a:cs typeface="DM Sans"/>
                <a:sym typeface="DM Sans"/>
              </a:rPr>
              <a:t>RELIABILITY &amp; MULTI-WAN</a:t>
            </a:r>
            <a:endParaRPr/>
          </a:p>
        </p:txBody>
      </p:sp>
      <p:sp>
        <p:nvSpPr>
          <p:cNvPr id="243" name="Google Shape;243;p14"/>
          <p:cNvSpPr txBox="1"/>
          <p:nvPr/>
        </p:nvSpPr>
        <p:spPr>
          <a:xfrm>
            <a:off x="1047750" y="2075147"/>
            <a:ext cx="14267318" cy="432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7035" lvl="1" marL="734069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3400"/>
              <a:buFont typeface="Arial"/>
              <a:buChar char="•"/>
            </a:pPr>
            <a:r>
              <a:rPr b="0" i="0" lang="en-US" sz="3400" u="none" cap="none" strike="noStrike">
                <a:solidFill>
                  <a:srgbClr val="303870"/>
                </a:solidFill>
                <a:latin typeface="DM Sans"/>
                <a:ea typeface="DM Sans"/>
                <a:cs typeface="DM Sans"/>
                <a:sym typeface="DM Sans"/>
              </a:rPr>
              <a:t>REDUCING SINGLE POINTS OF FAILURE</a:t>
            </a:r>
            <a:endParaRPr/>
          </a:p>
        </p:txBody>
      </p:sp>
      <p:sp>
        <p:nvSpPr>
          <p:cNvPr id="244" name="Google Shape;244;p14"/>
          <p:cNvSpPr txBox="1"/>
          <p:nvPr/>
        </p:nvSpPr>
        <p:spPr>
          <a:xfrm>
            <a:off x="3370084" y="2934918"/>
            <a:ext cx="7640738" cy="26156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73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      ISP 1                                                                           ISP 2</a:t>
            </a:r>
            <a:endParaRPr/>
          </a:p>
          <a:p>
            <a:pPr indent="0" lvl="0" marL="0" marR="0" rtl="0" algn="l">
              <a:lnSpc>
                <a:spcPct val="139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73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        │                                                                                 │</a:t>
            </a:r>
            <a:endParaRPr/>
          </a:p>
          <a:p>
            <a:pPr indent="0" lvl="0" marL="0" marR="0" rtl="0" algn="l">
              <a:lnSpc>
                <a:spcPct val="139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73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        └──────────┬───────────┘</a:t>
            </a:r>
            <a:endParaRPr/>
          </a:p>
          <a:p>
            <a:pPr indent="0" lvl="0" marL="0" marR="0" rtl="0" algn="l">
              <a:lnSpc>
                <a:spcPct val="139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73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                                                 ↓</a:t>
            </a:r>
            <a:endParaRPr/>
          </a:p>
          <a:p>
            <a:pPr indent="0" lvl="0" marL="0" marR="0" rtl="0" algn="l">
              <a:lnSpc>
                <a:spcPct val="139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73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                                    Multi-WAN Router</a:t>
            </a:r>
            <a:endParaRPr/>
          </a:p>
          <a:p>
            <a:pPr indent="0" lvl="0" marL="0" marR="0" rtl="0" algn="l">
              <a:lnSpc>
                <a:spcPct val="139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73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                                                 ↓</a:t>
            </a:r>
            <a:endParaRPr/>
          </a:p>
          <a:p>
            <a:pPr indent="0" lvl="0" marL="0" marR="0" rtl="0" algn="l">
              <a:lnSpc>
                <a:spcPct val="139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73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                                        Firewall / Core</a:t>
            </a:r>
            <a:endParaRPr/>
          </a:p>
          <a:p>
            <a:pPr indent="0" lvl="0" marL="0" marR="0" rtl="0" algn="l">
              <a:lnSpc>
                <a:spcPct val="139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73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                                                ↓</a:t>
            </a:r>
            <a:endParaRPr/>
          </a:p>
          <a:p>
            <a:pPr indent="0" lvl="0" marL="0" marR="0" rtl="0" algn="l">
              <a:lnSpc>
                <a:spcPct val="139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73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                                       Campus LAN</a:t>
            </a:r>
            <a:endParaRPr/>
          </a:p>
        </p:txBody>
      </p:sp>
      <p:sp>
        <p:nvSpPr>
          <p:cNvPr id="245" name="Google Shape;245;p14"/>
          <p:cNvSpPr txBox="1"/>
          <p:nvPr/>
        </p:nvSpPr>
        <p:spPr>
          <a:xfrm>
            <a:off x="3370084" y="2545937"/>
            <a:ext cx="8023746" cy="2804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26703" lvl="1" marL="453406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2100"/>
              <a:buFont typeface="DM Sans"/>
              <a:buAutoNum type="arabicPeriod"/>
            </a:pPr>
            <a:r>
              <a:rPr b="0" i="0" lang="en-US" sz="2100" u="none" cap="none" strike="noStrike">
                <a:solidFill>
                  <a:srgbClr val="303870"/>
                </a:solidFill>
                <a:latin typeface="DM Sans"/>
                <a:ea typeface="DM Sans"/>
                <a:cs typeface="DM Sans"/>
                <a:sym typeface="DM Sans"/>
              </a:rPr>
              <a:t>PROPOSED ARCHITECTURE</a:t>
            </a:r>
            <a:endParaRPr/>
          </a:p>
        </p:txBody>
      </p:sp>
      <p:sp>
        <p:nvSpPr>
          <p:cNvPr id="246" name="Google Shape;246;p14"/>
          <p:cNvSpPr txBox="1"/>
          <p:nvPr/>
        </p:nvSpPr>
        <p:spPr>
          <a:xfrm>
            <a:off x="1868029" y="6373794"/>
            <a:ext cx="6683292" cy="2837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89360" lvl="1" marL="57872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2680"/>
              <a:buFont typeface="Arial"/>
              <a:buChar char="•"/>
            </a:pPr>
            <a:r>
              <a:rPr b="0" i="0" lang="en-US" sz="2680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Internet redundancy</a:t>
            </a:r>
            <a:endParaRPr/>
          </a:p>
          <a:p>
            <a:pPr indent="-289360" lvl="1" marL="57872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2680"/>
              <a:buFont typeface="Arial"/>
              <a:buChar char="•"/>
            </a:pPr>
            <a:r>
              <a:rPr b="0" i="0" lang="en-US" sz="2680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Automatic failover</a:t>
            </a:r>
            <a:endParaRPr/>
          </a:p>
          <a:p>
            <a:pPr indent="-289360" lvl="1" marL="57872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2680"/>
              <a:buFont typeface="Arial"/>
              <a:buChar char="•"/>
            </a:pPr>
            <a:r>
              <a:rPr b="0" i="0" lang="en-US" sz="2680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Improved availability</a:t>
            </a:r>
            <a:endParaRPr/>
          </a:p>
          <a:p>
            <a:pPr indent="-289360" lvl="1" marL="57872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2680"/>
              <a:buFont typeface="Arial"/>
              <a:buChar char="•"/>
            </a:pPr>
            <a:r>
              <a:rPr b="0" i="0" lang="en-US" sz="2680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Reduced ISP dependency</a:t>
            </a:r>
            <a:endParaRPr/>
          </a:p>
          <a:p>
            <a:pPr indent="-289360" lvl="1" marL="57872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2680"/>
              <a:buFont typeface="Arial"/>
              <a:buChar char="•"/>
            </a:pPr>
            <a:r>
              <a:rPr b="0" i="0" lang="en-US" sz="2680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Load balancing where appropriate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680" u="none" cap="none" strike="noStrike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7" name="Google Shape;247;p14"/>
          <p:cNvSpPr txBox="1"/>
          <p:nvPr/>
        </p:nvSpPr>
        <p:spPr>
          <a:xfrm>
            <a:off x="1213152" y="5845854"/>
            <a:ext cx="8023746" cy="432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7035" lvl="1" marL="734069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3400"/>
              <a:buFont typeface="Arial"/>
              <a:buChar char="•"/>
            </a:pPr>
            <a:r>
              <a:rPr b="0" i="0" lang="en-US" sz="3400" u="none" cap="none" strike="noStrike">
                <a:solidFill>
                  <a:srgbClr val="303870"/>
                </a:solidFill>
                <a:latin typeface="DM Sans"/>
                <a:ea typeface="DM Sans"/>
                <a:cs typeface="DM Sans"/>
                <a:sym typeface="DM Sans"/>
              </a:rPr>
              <a:t>KEY IDEA</a:t>
            </a:r>
            <a:endParaRPr/>
          </a:p>
        </p:txBody>
      </p:sp>
      <p:sp>
        <p:nvSpPr>
          <p:cNvPr id="248" name="Google Shape;248;p14"/>
          <p:cNvSpPr txBox="1"/>
          <p:nvPr/>
        </p:nvSpPr>
        <p:spPr>
          <a:xfrm>
            <a:off x="9052446" y="5845854"/>
            <a:ext cx="8023746" cy="432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7035" lvl="1" marL="734069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3400"/>
              <a:buFont typeface="Arial"/>
              <a:buChar char="•"/>
            </a:pPr>
            <a:r>
              <a:rPr b="0" i="0" lang="en-US" sz="3400" u="none" cap="none" strike="noStrike">
                <a:solidFill>
                  <a:srgbClr val="303870"/>
                </a:solidFill>
                <a:latin typeface="DM Sans"/>
                <a:ea typeface="DM Sans"/>
                <a:cs typeface="DM Sans"/>
                <a:sym typeface="DM Sans"/>
              </a:rPr>
              <a:t>IMPLEMENTATION STRATEGY</a:t>
            </a:r>
            <a:endParaRPr/>
          </a:p>
        </p:txBody>
      </p:sp>
      <p:sp>
        <p:nvSpPr>
          <p:cNvPr id="249" name="Google Shape;249;p14"/>
          <p:cNvSpPr txBox="1"/>
          <p:nvPr/>
        </p:nvSpPr>
        <p:spPr>
          <a:xfrm>
            <a:off x="9722672" y="6230919"/>
            <a:ext cx="7069799" cy="1408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89360" lvl="1" marL="57872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2680"/>
              <a:buFont typeface="Arial"/>
              <a:buChar char="•"/>
            </a:pPr>
            <a:r>
              <a:rPr b="0" i="0" lang="en-US" sz="2680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Production → only if approved</a:t>
            </a:r>
            <a:endParaRPr/>
          </a:p>
          <a:p>
            <a:pPr indent="-289360" lvl="1" marL="57872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2680"/>
              <a:buFont typeface="Arial"/>
              <a:buChar char="•"/>
            </a:pPr>
            <a:r>
              <a:rPr b="0" i="0" lang="en-US" sz="2680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Otherwise → GNS3 / EVE-NG simulation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680" u="none" cap="none" strike="noStrike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EDE2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4" name="Google Shape;254;p15"/>
          <p:cNvGrpSpPr/>
          <p:nvPr/>
        </p:nvGrpSpPr>
        <p:grpSpPr>
          <a:xfrm>
            <a:off x="17259300" y="-325842"/>
            <a:ext cx="3086100" cy="10648652"/>
            <a:chOff x="0" y="-95250"/>
            <a:chExt cx="812800" cy="2804583"/>
          </a:xfrm>
        </p:grpSpPr>
        <p:sp>
          <p:nvSpPr>
            <p:cNvPr id="255" name="Google Shape;255;p15"/>
            <p:cNvSpPr/>
            <p:nvPr/>
          </p:nvSpPr>
          <p:spPr>
            <a:xfrm>
              <a:off x="0" y="0"/>
              <a:ext cx="812800" cy="2709333"/>
            </a:xfrm>
            <a:custGeom>
              <a:rect b="b" l="l" r="r" t="t"/>
              <a:pathLst>
                <a:path extrusionOk="0" h="2709333" w="812800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15"/>
            <p:cNvSpPr txBox="1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2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7" name="Google Shape;257;p15"/>
          <p:cNvSpPr txBox="1"/>
          <p:nvPr/>
        </p:nvSpPr>
        <p:spPr>
          <a:xfrm>
            <a:off x="1028700" y="1133475"/>
            <a:ext cx="13732155" cy="650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303870"/>
                </a:solidFill>
                <a:latin typeface="DM Sans"/>
                <a:ea typeface="DM Sans"/>
                <a:cs typeface="DM Sans"/>
                <a:sym typeface="DM Sans"/>
              </a:rPr>
              <a:t> LOCAL SERVICES DURING OUTAGES</a:t>
            </a:r>
            <a:endParaRPr/>
          </a:p>
        </p:txBody>
      </p:sp>
      <p:sp>
        <p:nvSpPr>
          <p:cNvPr id="258" name="Google Shape;258;p15"/>
          <p:cNvSpPr txBox="1"/>
          <p:nvPr/>
        </p:nvSpPr>
        <p:spPr>
          <a:xfrm>
            <a:off x="1047750" y="2075147"/>
            <a:ext cx="14267318" cy="432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7035" lvl="1" marL="734069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3400"/>
              <a:buFont typeface="Arial"/>
              <a:buChar char="•"/>
            </a:pPr>
            <a:r>
              <a:rPr b="0" i="0" lang="en-US" sz="3400" u="none" cap="none" strike="noStrike">
                <a:solidFill>
                  <a:srgbClr val="303870"/>
                </a:solidFill>
                <a:latin typeface="DM Sans"/>
                <a:ea typeface="DM Sans"/>
                <a:cs typeface="DM Sans"/>
                <a:sym typeface="DM Sans"/>
              </a:rPr>
              <a:t>CAMPUS LAN RESILIENCE</a:t>
            </a:r>
            <a:endParaRPr/>
          </a:p>
        </p:txBody>
      </p:sp>
      <p:sp>
        <p:nvSpPr>
          <p:cNvPr id="259" name="Google Shape;259;p15"/>
          <p:cNvSpPr txBox="1"/>
          <p:nvPr/>
        </p:nvSpPr>
        <p:spPr>
          <a:xfrm>
            <a:off x="3266024" y="3068268"/>
            <a:ext cx="8817614" cy="33581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31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Internet</a:t>
            </a:r>
            <a:endParaRPr/>
          </a:p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31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  X</a:t>
            </a:r>
            <a:endParaRPr/>
          </a:p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31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  │</a:t>
            </a:r>
            <a:endParaRPr/>
          </a:p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31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  ▼</a:t>
            </a:r>
            <a:endParaRPr/>
          </a:p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31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Campus LAN ───→ Local Server</a:t>
            </a:r>
            <a:endParaRPr/>
          </a:p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31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                   │</a:t>
            </a:r>
            <a:endParaRPr/>
          </a:p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31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                   ├── Announcements</a:t>
            </a:r>
            <a:endParaRPr/>
          </a:p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31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                   ├── Network Status</a:t>
            </a:r>
            <a:endParaRPr/>
          </a:p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31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                   ├── Internal Resources</a:t>
            </a:r>
            <a:endParaRPr/>
          </a:p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31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                   └── Selected Local Services</a:t>
            </a:r>
            <a:endParaRPr/>
          </a:p>
        </p:txBody>
      </p:sp>
      <p:sp>
        <p:nvSpPr>
          <p:cNvPr id="260" name="Google Shape;260;p15"/>
          <p:cNvSpPr txBox="1"/>
          <p:nvPr/>
        </p:nvSpPr>
        <p:spPr>
          <a:xfrm>
            <a:off x="2329488" y="2711650"/>
            <a:ext cx="8023746" cy="2708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When external Internet connectivity fails:</a:t>
            </a:r>
            <a:endParaRPr/>
          </a:p>
        </p:txBody>
      </p:sp>
      <p:sp>
        <p:nvSpPr>
          <p:cNvPr id="261" name="Google Shape;261;p15"/>
          <p:cNvSpPr txBox="1"/>
          <p:nvPr/>
        </p:nvSpPr>
        <p:spPr>
          <a:xfrm>
            <a:off x="1704507" y="7473961"/>
            <a:ext cx="13610561" cy="932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80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Maintain access to selected internal resources even when external Internet connectivity is unavailable.</a:t>
            </a:r>
            <a:endParaRPr/>
          </a:p>
        </p:txBody>
      </p:sp>
      <p:sp>
        <p:nvSpPr>
          <p:cNvPr id="262" name="Google Shape;262;p15"/>
          <p:cNvSpPr txBox="1"/>
          <p:nvPr/>
        </p:nvSpPr>
        <p:spPr>
          <a:xfrm>
            <a:off x="1085850" y="6946021"/>
            <a:ext cx="8023746" cy="432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7035" lvl="1" marL="734069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3400"/>
              <a:buFont typeface="Arial"/>
              <a:buChar char="•"/>
            </a:pPr>
            <a:r>
              <a:rPr b="0" i="0" lang="en-US" sz="3400" u="none" cap="none" strike="noStrike">
                <a:solidFill>
                  <a:srgbClr val="303870"/>
                </a:solidFill>
                <a:latin typeface="DM Sans"/>
                <a:ea typeface="DM Sans"/>
                <a:cs typeface="DM Sans"/>
                <a:sym typeface="DM Sans"/>
              </a:rPr>
              <a:t>GOAL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EDE2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7" name="Google Shape;267;p16"/>
          <p:cNvGrpSpPr/>
          <p:nvPr/>
        </p:nvGrpSpPr>
        <p:grpSpPr>
          <a:xfrm>
            <a:off x="17259300" y="-325842"/>
            <a:ext cx="3086100" cy="10648652"/>
            <a:chOff x="0" y="-95250"/>
            <a:chExt cx="812800" cy="2804583"/>
          </a:xfrm>
        </p:grpSpPr>
        <p:sp>
          <p:nvSpPr>
            <p:cNvPr id="268" name="Google Shape;268;p16"/>
            <p:cNvSpPr/>
            <p:nvPr/>
          </p:nvSpPr>
          <p:spPr>
            <a:xfrm>
              <a:off x="0" y="0"/>
              <a:ext cx="812800" cy="2709333"/>
            </a:xfrm>
            <a:custGeom>
              <a:rect b="b" l="l" r="r" t="t"/>
              <a:pathLst>
                <a:path extrusionOk="0" h="2709333" w="812800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16"/>
            <p:cNvSpPr txBox="1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2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0" name="Google Shape;270;p16"/>
          <p:cNvSpPr txBox="1"/>
          <p:nvPr/>
        </p:nvSpPr>
        <p:spPr>
          <a:xfrm>
            <a:off x="1028700" y="1133475"/>
            <a:ext cx="13286185" cy="1260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303870"/>
                </a:solidFill>
                <a:latin typeface="DM Sans"/>
                <a:ea typeface="DM Sans"/>
                <a:cs typeface="DM Sans"/>
                <a:sym typeface="DM Sans"/>
              </a:rPr>
              <a:t>DOCUMENTATION &amp; MAINTAINABILITY</a:t>
            </a:r>
            <a:endParaRPr/>
          </a:p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5000" u="none" cap="none" strike="noStrike">
              <a:solidFill>
                <a:srgbClr val="30387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71" name="Google Shape;271;p16"/>
          <p:cNvSpPr txBox="1"/>
          <p:nvPr/>
        </p:nvSpPr>
        <p:spPr>
          <a:xfrm>
            <a:off x="1047750" y="2075147"/>
            <a:ext cx="14267318" cy="432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7035" lvl="1" marL="734069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3400"/>
              <a:buFont typeface="Arial"/>
              <a:buChar char="•"/>
            </a:pPr>
            <a:r>
              <a:rPr b="0" i="0" lang="en-US" sz="3400" u="none" cap="none" strike="noStrike">
                <a:solidFill>
                  <a:srgbClr val="303870"/>
                </a:solidFill>
                <a:latin typeface="DM Sans"/>
                <a:ea typeface="DM Sans"/>
                <a:cs typeface="DM Sans"/>
                <a:sym typeface="DM Sans"/>
              </a:rPr>
              <a:t>MAKING THE NETWORK EASIER TO MANAGE</a:t>
            </a:r>
            <a:endParaRPr/>
          </a:p>
        </p:txBody>
      </p:sp>
      <p:sp>
        <p:nvSpPr>
          <p:cNvPr id="272" name="Google Shape;272;p16"/>
          <p:cNvSpPr txBox="1"/>
          <p:nvPr/>
        </p:nvSpPr>
        <p:spPr>
          <a:xfrm>
            <a:off x="2195697" y="2576070"/>
            <a:ext cx="9441971" cy="47589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67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The project will produce:</a:t>
            </a:r>
            <a:endParaRPr/>
          </a:p>
          <a:p>
            <a:pPr indent="-223222" lvl="1" marL="446444" marR="0" rtl="0" algn="l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2067"/>
              <a:buFont typeface="Arial"/>
              <a:buChar char="•"/>
            </a:pPr>
            <a:r>
              <a:rPr b="0" i="0" lang="en-US" sz="2067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Logical topology</a:t>
            </a:r>
            <a:endParaRPr/>
          </a:p>
          <a:p>
            <a:pPr indent="-223222" lvl="1" marL="446444" marR="0" rtl="0" algn="l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2067"/>
              <a:buFont typeface="Arial"/>
              <a:buChar char="•"/>
            </a:pPr>
            <a:r>
              <a:rPr b="0" i="0" lang="en-US" sz="2067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Physical topology</a:t>
            </a:r>
            <a:endParaRPr/>
          </a:p>
          <a:p>
            <a:pPr indent="-223222" lvl="1" marL="446444" marR="0" rtl="0" algn="l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2067"/>
              <a:buFont typeface="Arial"/>
              <a:buChar char="•"/>
            </a:pPr>
            <a:r>
              <a:rPr b="0" i="0" lang="en-US" sz="2067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IP address documentation</a:t>
            </a:r>
            <a:endParaRPr/>
          </a:p>
          <a:p>
            <a:pPr indent="-223222" lvl="1" marL="446444" marR="0" rtl="0" algn="l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2067"/>
              <a:buFont typeface="Arial"/>
              <a:buChar char="•"/>
            </a:pPr>
            <a:r>
              <a:rPr b="0" i="0" lang="en-US" sz="2067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VLAN records</a:t>
            </a:r>
            <a:endParaRPr/>
          </a:p>
          <a:p>
            <a:pPr indent="-223222" lvl="1" marL="446444" marR="0" rtl="0" algn="l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2067"/>
              <a:buFont typeface="Arial"/>
              <a:buChar char="•"/>
            </a:pPr>
            <a:r>
              <a:rPr b="0" i="0" lang="en-US" sz="2067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Switch-port mapping</a:t>
            </a:r>
            <a:endParaRPr/>
          </a:p>
          <a:p>
            <a:pPr indent="-223222" lvl="1" marL="446444" marR="0" rtl="0" algn="l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2067"/>
              <a:buFont typeface="Arial"/>
              <a:buChar char="•"/>
            </a:pPr>
            <a:r>
              <a:rPr b="0" i="0" lang="en-US" sz="2067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Cable labeling</a:t>
            </a:r>
            <a:endParaRPr/>
          </a:p>
          <a:p>
            <a:pPr indent="-223222" lvl="1" marL="446444" marR="0" rtl="0" algn="l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2067"/>
              <a:buFont typeface="Arial"/>
              <a:buChar char="•"/>
            </a:pPr>
            <a:r>
              <a:rPr b="0" i="0" lang="en-US" sz="2067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Device inventory</a:t>
            </a:r>
            <a:endParaRPr/>
          </a:p>
          <a:p>
            <a:pPr indent="-223222" lvl="1" marL="446444" marR="0" rtl="0" algn="l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2067"/>
              <a:buFont typeface="Arial"/>
              <a:buChar char="•"/>
            </a:pPr>
            <a:r>
              <a:rPr b="0" i="0" lang="en-US" sz="2067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Configuration backups</a:t>
            </a:r>
            <a:endParaRPr/>
          </a:p>
          <a:p>
            <a:pPr indent="-223222" lvl="1" marL="446444" marR="0" rtl="0" algn="l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2067"/>
              <a:buFont typeface="Arial"/>
              <a:buChar char="•"/>
            </a:pPr>
            <a:r>
              <a:rPr b="0" i="0" lang="en-US" sz="2067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Change records</a:t>
            </a:r>
            <a:endParaRPr/>
          </a:p>
          <a:p>
            <a:pPr indent="-223222" lvl="1" marL="446444" marR="0" rtl="0" algn="l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2067"/>
              <a:buFont typeface="Arial"/>
              <a:buChar char="•"/>
            </a:pPr>
            <a:r>
              <a:rPr b="0" i="0" lang="en-US" sz="2067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Troubleshooting procedures</a:t>
            </a:r>
            <a:endParaRPr/>
          </a:p>
          <a:p>
            <a:pPr indent="-223222" lvl="1" marL="446444" marR="0" rtl="0" algn="l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2067"/>
              <a:buFont typeface="Arial"/>
              <a:buChar char="•"/>
            </a:pPr>
            <a:r>
              <a:rPr b="0" i="0" lang="en-US" sz="2067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Maintenance documentation</a:t>
            </a:r>
            <a:endParaRPr/>
          </a:p>
          <a:p>
            <a:pPr indent="0" lvl="0" marL="0" marR="0" rtl="0" algn="l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67" u="none" cap="none" strike="noStrike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73" name="Google Shape;273;p16"/>
          <p:cNvSpPr txBox="1"/>
          <p:nvPr/>
        </p:nvSpPr>
        <p:spPr>
          <a:xfrm>
            <a:off x="1882895" y="7939128"/>
            <a:ext cx="13610561" cy="4557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80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The network should not depend on one administrator's memory.</a:t>
            </a:r>
            <a:endParaRPr/>
          </a:p>
        </p:txBody>
      </p:sp>
      <p:sp>
        <p:nvSpPr>
          <p:cNvPr id="274" name="Google Shape;274;p16"/>
          <p:cNvSpPr txBox="1"/>
          <p:nvPr/>
        </p:nvSpPr>
        <p:spPr>
          <a:xfrm>
            <a:off x="1085850" y="7392137"/>
            <a:ext cx="8023746" cy="432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7035" lvl="1" marL="734069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3400"/>
              <a:buFont typeface="Arial"/>
              <a:buChar char="•"/>
            </a:pPr>
            <a:r>
              <a:rPr b="0" i="0" lang="en-US" sz="3400" u="none" cap="none" strike="noStrike">
                <a:solidFill>
                  <a:srgbClr val="303870"/>
                </a:solidFill>
                <a:latin typeface="DM Sans"/>
                <a:ea typeface="DM Sans"/>
                <a:cs typeface="DM Sans"/>
                <a:sym typeface="DM Sans"/>
              </a:rPr>
              <a:t>KEY PRINCIPLE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EDE2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9" name="Google Shape;279;p17"/>
          <p:cNvGrpSpPr/>
          <p:nvPr/>
        </p:nvGrpSpPr>
        <p:grpSpPr>
          <a:xfrm>
            <a:off x="17259300" y="-325842"/>
            <a:ext cx="3086100" cy="10648652"/>
            <a:chOff x="0" y="-95250"/>
            <a:chExt cx="812800" cy="2804583"/>
          </a:xfrm>
        </p:grpSpPr>
        <p:sp>
          <p:nvSpPr>
            <p:cNvPr id="280" name="Google Shape;280;p17"/>
            <p:cNvSpPr/>
            <p:nvPr/>
          </p:nvSpPr>
          <p:spPr>
            <a:xfrm>
              <a:off x="0" y="0"/>
              <a:ext cx="812800" cy="2709333"/>
            </a:xfrm>
            <a:custGeom>
              <a:rect b="b" l="l" r="r" t="t"/>
              <a:pathLst>
                <a:path extrusionOk="0" h="2709333" w="812800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17"/>
            <p:cNvSpPr txBox="1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2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2" name="Google Shape;282;p17"/>
          <p:cNvSpPr txBox="1"/>
          <p:nvPr/>
        </p:nvSpPr>
        <p:spPr>
          <a:xfrm>
            <a:off x="1028700" y="1133475"/>
            <a:ext cx="13286185" cy="650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303870"/>
                </a:solidFill>
                <a:latin typeface="DM Sans"/>
                <a:ea typeface="DM Sans"/>
                <a:cs typeface="DM Sans"/>
                <a:sym typeface="DM Sans"/>
              </a:rPr>
              <a:t>CUSTOM WORKFLOW</a:t>
            </a:r>
            <a:endParaRPr/>
          </a:p>
        </p:txBody>
      </p:sp>
      <p:sp>
        <p:nvSpPr>
          <p:cNvPr id="283" name="Google Shape;283;p17"/>
          <p:cNvSpPr txBox="1"/>
          <p:nvPr/>
        </p:nvSpPr>
        <p:spPr>
          <a:xfrm>
            <a:off x="1047750" y="2075147"/>
            <a:ext cx="14267318" cy="432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7035" lvl="1" marL="734069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3400"/>
              <a:buFont typeface="Arial"/>
              <a:buChar char="•"/>
            </a:pPr>
            <a:r>
              <a:rPr b="0" i="0" lang="en-US" sz="3400" u="none" cap="none" strike="noStrike">
                <a:solidFill>
                  <a:srgbClr val="303870"/>
                </a:solidFill>
                <a:latin typeface="DM Sans"/>
                <a:ea typeface="DM Sans"/>
                <a:cs typeface="DM Sans"/>
                <a:sym typeface="DM Sans"/>
              </a:rPr>
              <a:t>PGI NETWORK OPERATIONS WORKFLOW</a:t>
            </a:r>
            <a:endParaRPr/>
          </a:p>
        </p:txBody>
      </p:sp>
      <p:sp>
        <p:nvSpPr>
          <p:cNvPr id="284" name="Google Shape;284;p17"/>
          <p:cNvSpPr txBox="1"/>
          <p:nvPr/>
        </p:nvSpPr>
        <p:spPr>
          <a:xfrm>
            <a:off x="2076772" y="2253392"/>
            <a:ext cx="8365196" cy="64881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2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99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32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                                  Network Event</a:t>
            </a:r>
            <a:endParaRPr/>
          </a:p>
          <a:p>
            <a:pPr indent="0" lvl="0" marL="0" marR="0" rtl="0" algn="l">
              <a:lnSpc>
                <a:spcPct val="1399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32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                                           ↓</a:t>
            </a:r>
            <a:endParaRPr/>
          </a:p>
          <a:p>
            <a:pPr indent="0" lvl="0" marL="0" marR="0" rtl="0" algn="l">
              <a:lnSpc>
                <a:spcPct val="1399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32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                                     Detection</a:t>
            </a:r>
            <a:endParaRPr/>
          </a:p>
          <a:p>
            <a:pPr indent="0" lvl="0" marL="0" marR="0" rtl="0" algn="l">
              <a:lnSpc>
                <a:spcPct val="1399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32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                                           ↓</a:t>
            </a:r>
            <a:endParaRPr/>
          </a:p>
          <a:p>
            <a:pPr indent="0" lvl="0" marL="0" marR="0" rtl="0" algn="l">
              <a:lnSpc>
                <a:spcPct val="1399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32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                                   Verification</a:t>
            </a:r>
            <a:endParaRPr/>
          </a:p>
          <a:p>
            <a:pPr indent="0" lvl="0" marL="0" marR="0" rtl="0" algn="l">
              <a:lnSpc>
                <a:spcPct val="1399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32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                                           ↓</a:t>
            </a:r>
            <a:endParaRPr/>
          </a:p>
          <a:p>
            <a:pPr indent="0" lvl="0" marL="0" marR="0" rtl="0" algn="l">
              <a:lnSpc>
                <a:spcPct val="1399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32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                                 Classification</a:t>
            </a:r>
            <a:endParaRPr/>
          </a:p>
          <a:p>
            <a:pPr indent="0" lvl="0" marL="0" marR="0" rtl="0" algn="l">
              <a:lnSpc>
                <a:spcPct val="1399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32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                                          ↓</a:t>
            </a:r>
            <a:endParaRPr/>
          </a:p>
          <a:p>
            <a:pPr indent="0" lvl="0" marL="0" marR="0" rtl="0" algn="l">
              <a:lnSpc>
                <a:spcPct val="1399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32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                            Impact Assessment</a:t>
            </a:r>
            <a:endParaRPr/>
          </a:p>
          <a:p>
            <a:pPr indent="0" lvl="0" marL="0" marR="0" rtl="0" algn="l">
              <a:lnSpc>
                <a:spcPct val="1399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32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                                          ↓</a:t>
            </a:r>
            <a:endParaRPr/>
          </a:p>
          <a:p>
            <a:pPr indent="0" lvl="0" marL="0" marR="0" rtl="0" algn="l">
              <a:lnSpc>
                <a:spcPct val="1399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32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                            Recommended Action</a:t>
            </a:r>
            <a:endParaRPr/>
          </a:p>
          <a:p>
            <a:pPr indent="0" lvl="0" marL="0" marR="0" rtl="0" algn="l">
              <a:lnSpc>
                <a:spcPct val="1399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32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                                          ↓</a:t>
            </a:r>
            <a:endParaRPr/>
          </a:p>
          <a:p>
            <a:pPr indent="0" lvl="0" marL="0" marR="0" rtl="0" algn="l">
              <a:lnSpc>
                <a:spcPct val="1399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32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                                Authorization</a:t>
            </a:r>
            <a:endParaRPr/>
          </a:p>
          <a:p>
            <a:pPr indent="0" lvl="0" marL="0" marR="0" rtl="0" algn="l">
              <a:lnSpc>
                <a:spcPct val="1399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32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                                          ↓</a:t>
            </a:r>
            <a:endParaRPr/>
          </a:p>
          <a:p>
            <a:pPr indent="0" lvl="0" marL="0" marR="0" rtl="0" algn="l">
              <a:lnSpc>
                <a:spcPct val="1399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32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                                Implementation</a:t>
            </a:r>
            <a:endParaRPr/>
          </a:p>
          <a:p>
            <a:pPr indent="0" lvl="0" marL="0" marR="0" rtl="0" algn="l">
              <a:lnSpc>
                <a:spcPct val="1399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32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                                          ↓</a:t>
            </a:r>
            <a:endParaRPr/>
          </a:p>
          <a:p>
            <a:pPr indent="0" lvl="0" marL="0" marR="0" rtl="0" algn="l">
              <a:lnSpc>
                <a:spcPct val="1399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32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                                  Verification</a:t>
            </a:r>
            <a:endParaRPr/>
          </a:p>
          <a:p>
            <a:pPr indent="0" lvl="0" marL="0" marR="0" rtl="0" algn="l">
              <a:lnSpc>
                <a:spcPct val="1399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32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                                          ↓</a:t>
            </a:r>
            <a:endParaRPr/>
          </a:p>
          <a:p>
            <a:pPr indent="0" lvl="0" marL="0" marR="0" rtl="0" algn="l">
              <a:lnSpc>
                <a:spcPct val="1399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32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                             Documentation</a:t>
            </a:r>
            <a:endParaRPr/>
          </a:p>
        </p:txBody>
      </p:sp>
      <p:sp>
        <p:nvSpPr>
          <p:cNvPr id="285" name="Google Shape;285;p17"/>
          <p:cNvSpPr txBox="1"/>
          <p:nvPr/>
        </p:nvSpPr>
        <p:spPr>
          <a:xfrm>
            <a:off x="12125327" y="4164705"/>
            <a:ext cx="3189741" cy="46906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80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High latency detected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80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       ↓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80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Verify affected segment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80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       ↓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80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Check utilization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80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       ↓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80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Check packet loss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80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       ↓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80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Identify possible cause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80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       ↓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80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Generate recommendation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80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       ↓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80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Administrator reviews</a:t>
            </a:r>
            <a:endParaRPr/>
          </a:p>
        </p:txBody>
      </p:sp>
      <p:sp>
        <p:nvSpPr>
          <p:cNvPr id="286" name="Google Shape;286;p17"/>
          <p:cNvSpPr txBox="1"/>
          <p:nvPr/>
        </p:nvSpPr>
        <p:spPr>
          <a:xfrm>
            <a:off x="10778604" y="3666055"/>
            <a:ext cx="8023746" cy="432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7035" lvl="1" marL="734069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3400"/>
              <a:buFont typeface="Arial"/>
              <a:buChar char="•"/>
            </a:pPr>
            <a:r>
              <a:rPr b="0" i="0" lang="en-US" sz="3400" u="none" cap="none" strike="noStrike">
                <a:solidFill>
                  <a:srgbClr val="303870"/>
                </a:solidFill>
                <a:latin typeface="DM Sans"/>
                <a:ea typeface="DM Sans"/>
                <a:cs typeface="DM Sans"/>
                <a:sym typeface="DM Sans"/>
              </a:rPr>
              <a:t>EXAMPLE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EDE2"/>
        </a:soli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1" name="Google Shape;291;p18"/>
          <p:cNvGrpSpPr/>
          <p:nvPr/>
        </p:nvGrpSpPr>
        <p:grpSpPr>
          <a:xfrm>
            <a:off x="17259300" y="-325842"/>
            <a:ext cx="3086100" cy="10648652"/>
            <a:chOff x="0" y="-95250"/>
            <a:chExt cx="812800" cy="2804583"/>
          </a:xfrm>
        </p:grpSpPr>
        <p:sp>
          <p:nvSpPr>
            <p:cNvPr id="292" name="Google Shape;292;p18"/>
            <p:cNvSpPr/>
            <p:nvPr/>
          </p:nvSpPr>
          <p:spPr>
            <a:xfrm>
              <a:off x="0" y="0"/>
              <a:ext cx="812800" cy="2709333"/>
            </a:xfrm>
            <a:custGeom>
              <a:rect b="b" l="l" r="r" t="t"/>
              <a:pathLst>
                <a:path extrusionOk="0" h="2709333" w="812800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18"/>
            <p:cNvSpPr txBox="1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2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4" name="Google Shape;294;p18"/>
          <p:cNvSpPr txBox="1"/>
          <p:nvPr/>
        </p:nvSpPr>
        <p:spPr>
          <a:xfrm>
            <a:off x="1028700" y="1133475"/>
            <a:ext cx="13286185" cy="650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303870"/>
                </a:solidFill>
                <a:latin typeface="DM Sans"/>
                <a:ea typeface="DM Sans"/>
                <a:cs typeface="DM Sans"/>
                <a:sym typeface="DM Sans"/>
              </a:rPr>
              <a:t>QUANTITATIVE EVALUATION</a:t>
            </a:r>
            <a:endParaRPr/>
          </a:p>
        </p:txBody>
      </p:sp>
      <p:sp>
        <p:nvSpPr>
          <p:cNvPr id="295" name="Google Shape;295;p18"/>
          <p:cNvSpPr txBox="1"/>
          <p:nvPr/>
        </p:nvSpPr>
        <p:spPr>
          <a:xfrm>
            <a:off x="1047750" y="2075147"/>
            <a:ext cx="14267318" cy="432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7035" lvl="1" marL="734069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3400"/>
              <a:buFont typeface="Arial"/>
              <a:buChar char="•"/>
            </a:pPr>
            <a:r>
              <a:rPr b="0" i="0" lang="en-US" sz="3400" u="none" cap="none" strike="noStrike">
                <a:solidFill>
                  <a:srgbClr val="303870"/>
                </a:solidFill>
                <a:latin typeface="DM Sans"/>
                <a:ea typeface="DM Sans"/>
                <a:cs typeface="DM Sans"/>
                <a:sym typeface="DM Sans"/>
              </a:rPr>
              <a:t>HOW WILL WE PROVE IT WORKS?</a:t>
            </a:r>
            <a:endParaRPr/>
          </a:p>
        </p:txBody>
      </p:sp>
      <p:sp>
        <p:nvSpPr>
          <p:cNvPr id="296" name="Google Shape;296;p18"/>
          <p:cNvSpPr txBox="1"/>
          <p:nvPr/>
        </p:nvSpPr>
        <p:spPr>
          <a:xfrm>
            <a:off x="2180832" y="2564271"/>
            <a:ext cx="8597773" cy="41211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0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| Metric                                     | Before              | After       |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0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|------------------------------|----------------|----------|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0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| Average latency                    | Measure           | Measure|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0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| Packet loss                             | Measure           | Measure|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0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| Bandwidth utilization           | Measure           | Measure|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0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| Uptime                                   | Measure            | Measure|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0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| Detection time                      | Measure            | Measure|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0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| Documentation coverage    | Measure            | Measure|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0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| Unauthorized devices          | Measure            | Measure|</a:t>
            </a:r>
            <a:endParaRPr/>
          </a:p>
        </p:txBody>
      </p:sp>
      <p:sp>
        <p:nvSpPr>
          <p:cNvPr id="297" name="Google Shape;297;p18"/>
          <p:cNvSpPr txBox="1"/>
          <p:nvPr/>
        </p:nvSpPr>
        <p:spPr>
          <a:xfrm>
            <a:off x="1521010" y="7599806"/>
            <a:ext cx="10194130" cy="4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SUCCESS = MEASURABLE IMPROVEMENT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EDE2"/>
        </a:solid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2" name="Google Shape;302;p19"/>
          <p:cNvGrpSpPr/>
          <p:nvPr/>
        </p:nvGrpSpPr>
        <p:grpSpPr>
          <a:xfrm>
            <a:off x="17259300" y="-325842"/>
            <a:ext cx="3086100" cy="10648652"/>
            <a:chOff x="0" y="-95250"/>
            <a:chExt cx="812800" cy="2804583"/>
          </a:xfrm>
        </p:grpSpPr>
        <p:sp>
          <p:nvSpPr>
            <p:cNvPr id="303" name="Google Shape;303;p19"/>
            <p:cNvSpPr/>
            <p:nvPr/>
          </p:nvSpPr>
          <p:spPr>
            <a:xfrm>
              <a:off x="0" y="0"/>
              <a:ext cx="812800" cy="2709333"/>
            </a:xfrm>
            <a:custGeom>
              <a:rect b="b" l="l" r="r" t="t"/>
              <a:pathLst>
                <a:path extrusionOk="0" h="2709333" w="812800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19"/>
            <p:cNvSpPr txBox="1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2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5" name="Google Shape;305;p19"/>
          <p:cNvSpPr txBox="1"/>
          <p:nvPr/>
        </p:nvSpPr>
        <p:spPr>
          <a:xfrm>
            <a:off x="1028700" y="1133475"/>
            <a:ext cx="13286185" cy="650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303870"/>
                </a:solidFill>
                <a:latin typeface="DM Sans"/>
                <a:ea typeface="DM Sans"/>
                <a:cs typeface="DM Sans"/>
                <a:sym typeface="DM Sans"/>
              </a:rPr>
              <a:t>METHODOLOGY</a:t>
            </a:r>
            <a:endParaRPr/>
          </a:p>
        </p:txBody>
      </p:sp>
      <p:sp>
        <p:nvSpPr>
          <p:cNvPr id="306" name="Google Shape;306;p19"/>
          <p:cNvSpPr txBox="1"/>
          <p:nvPr/>
        </p:nvSpPr>
        <p:spPr>
          <a:xfrm>
            <a:off x="1047750" y="2075147"/>
            <a:ext cx="14267318" cy="432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7035" lvl="1" marL="734069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3400"/>
              <a:buFont typeface="Arial"/>
              <a:buChar char="•"/>
            </a:pPr>
            <a:r>
              <a:rPr b="0" i="0" lang="en-US" sz="3400" u="none" cap="none" strike="noStrike">
                <a:solidFill>
                  <a:srgbClr val="303870"/>
                </a:solidFill>
                <a:latin typeface="DM Sans"/>
                <a:ea typeface="DM Sans"/>
                <a:cs typeface="DM Sans"/>
                <a:sym typeface="DM Sans"/>
              </a:rPr>
              <a:t>END-TO-END PROJECT LIFECYCLE</a:t>
            </a:r>
            <a:endParaRPr/>
          </a:p>
        </p:txBody>
      </p:sp>
      <p:sp>
        <p:nvSpPr>
          <p:cNvPr id="307" name="Google Shape;307;p19"/>
          <p:cNvSpPr txBox="1"/>
          <p:nvPr/>
        </p:nvSpPr>
        <p:spPr>
          <a:xfrm>
            <a:off x="2270026" y="2504740"/>
            <a:ext cx="5622336" cy="52168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Phase 1 — Assess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Understand PGI's existing infrastructure.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↓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Phase 2 — Baseline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Collect quantitative measurements.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↓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Phase 3 — Analyze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Identify bottlenecks and risks.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↓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Phase 4 — Design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Develop PGI-specific improvements.</a:t>
            </a:r>
            <a:endParaRPr/>
          </a:p>
          <a:p>
            <a:pPr indent="0" lvl="0" marL="0" marR="0" rtl="0" algn="l">
              <a:lnSpc>
                <a:spcPct val="1075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75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75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08" name="Google Shape;308;p19"/>
          <p:cNvSpPr txBox="1"/>
          <p:nvPr/>
        </p:nvSpPr>
        <p:spPr>
          <a:xfrm>
            <a:off x="8181409" y="2804895"/>
            <a:ext cx="6373408" cy="45117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33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Phase 5 — Integrate</a:t>
            </a:r>
            <a:endParaRPr/>
          </a:p>
          <a:p>
            <a:pPr indent="0" lvl="0" marL="0" marR="0" rtl="0" algn="l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33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Connect appropriate existing tools.</a:t>
            </a:r>
            <a:endParaRPr/>
          </a:p>
          <a:p>
            <a:pPr indent="0" lvl="0" marL="0" marR="0" rtl="0" algn="l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33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↓</a:t>
            </a:r>
            <a:endParaRPr/>
          </a:p>
          <a:p>
            <a:pPr indent="0" lvl="0" marL="0" marR="0" rtl="0" algn="l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33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Phase 6 — Controlled Implementation</a:t>
            </a:r>
            <a:endParaRPr/>
          </a:p>
          <a:p>
            <a:pPr indent="0" lvl="0" marL="0" marR="0" rtl="0" algn="l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33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Implement approved changes.</a:t>
            </a:r>
            <a:endParaRPr/>
          </a:p>
          <a:p>
            <a:pPr indent="0" lvl="0" marL="0" marR="0" rtl="0" algn="l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33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↓</a:t>
            </a:r>
            <a:endParaRPr/>
          </a:p>
          <a:p>
            <a:pPr indent="0" lvl="0" marL="0" marR="0" rtl="0" algn="l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33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Phase 7 — Evaluate</a:t>
            </a:r>
            <a:endParaRPr/>
          </a:p>
          <a:p>
            <a:pPr indent="0" lvl="0" marL="0" marR="0" rtl="0" algn="l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33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Perform before/after comparison.</a:t>
            </a:r>
            <a:endParaRPr/>
          </a:p>
          <a:p>
            <a:pPr indent="0" lvl="0" marL="0" marR="0" rtl="0" algn="l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33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↓</a:t>
            </a:r>
            <a:endParaRPr/>
          </a:p>
          <a:p>
            <a:pPr indent="0" lvl="0" marL="0" marR="0" rtl="0" algn="l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33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Phase 8 — Document</a:t>
            </a:r>
            <a:endParaRPr/>
          </a:p>
          <a:p>
            <a:pPr indent="0" lvl="0" marL="0" marR="0" rtl="0" algn="l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33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Produce final operational framework.</a:t>
            </a:r>
            <a:endParaRPr/>
          </a:p>
          <a:p>
            <a:pPr indent="0" lvl="0" marL="0" marR="0" rtl="0" algn="l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33" u="none" cap="none" strike="noStrike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EDE2"/>
        </a:soli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3" name="Google Shape;313;p20"/>
          <p:cNvGrpSpPr/>
          <p:nvPr/>
        </p:nvGrpSpPr>
        <p:grpSpPr>
          <a:xfrm>
            <a:off x="17259300" y="-325842"/>
            <a:ext cx="3086100" cy="10648652"/>
            <a:chOff x="0" y="-95250"/>
            <a:chExt cx="812800" cy="2804583"/>
          </a:xfrm>
        </p:grpSpPr>
        <p:sp>
          <p:nvSpPr>
            <p:cNvPr id="314" name="Google Shape;314;p20"/>
            <p:cNvSpPr/>
            <p:nvPr/>
          </p:nvSpPr>
          <p:spPr>
            <a:xfrm>
              <a:off x="0" y="0"/>
              <a:ext cx="812800" cy="2709333"/>
            </a:xfrm>
            <a:custGeom>
              <a:rect b="b" l="l" r="r" t="t"/>
              <a:pathLst>
                <a:path extrusionOk="0" h="2709333" w="812800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20"/>
            <p:cNvSpPr txBox="1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2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6" name="Google Shape;316;p20"/>
          <p:cNvSpPr txBox="1"/>
          <p:nvPr/>
        </p:nvSpPr>
        <p:spPr>
          <a:xfrm>
            <a:off x="1028700" y="1133475"/>
            <a:ext cx="13286185" cy="650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303870"/>
                </a:solidFill>
                <a:latin typeface="DM Sans"/>
                <a:ea typeface="DM Sans"/>
                <a:cs typeface="DM Sans"/>
                <a:sym typeface="DM Sans"/>
              </a:rPr>
              <a:t>PRODUCTION VS LABORATORY SCOPE</a:t>
            </a:r>
            <a:endParaRPr/>
          </a:p>
        </p:txBody>
      </p:sp>
      <p:sp>
        <p:nvSpPr>
          <p:cNvPr id="317" name="Google Shape;317;p20"/>
          <p:cNvSpPr txBox="1"/>
          <p:nvPr/>
        </p:nvSpPr>
        <p:spPr>
          <a:xfrm>
            <a:off x="1047750" y="2075147"/>
            <a:ext cx="14267318" cy="432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7035" lvl="1" marL="734069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3400"/>
              <a:buFont typeface="Arial"/>
              <a:buChar char="•"/>
            </a:pPr>
            <a:r>
              <a:rPr b="0" i="0" lang="en-US" sz="3400" u="none" cap="none" strike="noStrike">
                <a:solidFill>
                  <a:srgbClr val="303870"/>
                </a:solidFill>
                <a:latin typeface="DM Sans"/>
                <a:ea typeface="DM Sans"/>
                <a:cs typeface="DM Sans"/>
                <a:sym typeface="DM Sans"/>
              </a:rPr>
              <a:t>END-TO-END PROJECT LIFECYCLE</a:t>
            </a:r>
            <a:endParaRPr/>
          </a:p>
        </p:txBody>
      </p:sp>
      <p:sp>
        <p:nvSpPr>
          <p:cNvPr id="318" name="Google Shape;318;p20"/>
          <p:cNvSpPr txBox="1"/>
          <p:nvPr/>
        </p:nvSpPr>
        <p:spPr>
          <a:xfrm>
            <a:off x="2314623" y="2645991"/>
            <a:ext cx="3161686" cy="3559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12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Production Environment</a:t>
            </a:r>
            <a:endParaRPr/>
          </a:p>
        </p:txBody>
      </p:sp>
      <p:sp>
        <p:nvSpPr>
          <p:cNvPr id="319" name="Google Shape;319;p20"/>
          <p:cNvSpPr txBox="1"/>
          <p:nvPr/>
        </p:nvSpPr>
        <p:spPr>
          <a:xfrm>
            <a:off x="2861932" y="2992374"/>
            <a:ext cx="5228753" cy="29557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33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Safe / authorized activities</a:t>
            </a:r>
            <a:endParaRPr/>
          </a:p>
          <a:p>
            <a:pPr indent="-230312" lvl="1" marL="460623" marR="0" rtl="0" algn="l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2133"/>
              <a:buFont typeface="Arial"/>
              <a:buChar char="•"/>
            </a:pPr>
            <a:r>
              <a:rPr b="0" i="0" lang="en-US" sz="2133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Monitoring</a:t>
            </a:r>
            <a:endParaRPr/>
          </a:p>
          <a:p>
            <a:pPr indent="-230312" lvl="1" marL="460623" marR="0" rtl="0" algn="l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2133"/>
              <a:buFont typeface="Arial"/>
              <a:buChar char="•"/>
            </a:pPr>
            <a:r>
              <a:rPr b="0" i="0" lang="en-US" sz="2133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Performance measurement</a:t>
            </a:r>
            <a:endParaRPr/>
          </a:p>
          <a:p>
            <a:pPr indent="-230312" lvl="1" marL="460623" marR="0" rtl="0" algn="l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2133"/>
              <a:buFont typeface="Arial"/>
              <a:buChar char="•"/>
            </a:pPr>
            <a:r>
              <a:rPr b="0" i="0" lang="en-US" sz="2133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Inventory</a:t>
            </a:r>
            <a:endParaRPr/>
          </a:p>
          <a:p>
            <a:pPr indent="-230312" lvl="1" marL="460623" marR="0" rtl="0" algn="l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2133"/>
              <a:buFont typeface="Arial"/>
              <a:buChar char="•"/>
            </a:pPr>
            <a:r>
              <a:rPr b="0" i="0" lang="en-US" sz="2133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Documentation</a:t>
            </a:r>
            <a:endParaRPr/>
          </a:p>
          <a:p>
            <a:pPr indent="-230312" lvl="1" marL="460623" marR="0" rtl="0" algn="l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2133"/>
              <a:buFont typeface="Arial"/>
              <a:buChar char="•"/>
            </a:pPr>
            <a:r>
              <a:rPr b="0" i="0" lang="en-US" sz="2133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Configuration review</a:t>
            </a:r>
            <a:endParaRPr/>
          </a:p>
          <a:p>
            <a:pPr indent="-230312" lvl="1" marL="460623" marR="0" rtl="0" algn="l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2133"/>
              <a:buFont typeface="Arial"/>
              <a:buChar char="•"/>
            </a:pPr>
            <a:r>
              <a:rPr b="0" i="0" lang="en-US" sz="2133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Approved changes</a:t>
            </a:r>
            <a:endParaRPr/>
          </a:p>
          <a:p>
            <a:pPr indent="0" lvl="0" marL="0" marR="0" rtl="0" algn="l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33" u="none" cap="none" strike="noStrike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20" name="Google Shape;320;p20"/>
          <p:cNvSpPr txBox="1"/>
          <p:nvPr/>
        </p:nvSpPr>
        <p:spPr>
          <a:xfrm>
            <a:off x="9144000" y="2665041"/>
            <a:ext cx="3161686" cy="3559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12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Laboratory Environment</a:t>
            </a:r>
            <a:endParaRPr/>
          </a:p>
        </p:txBody>
      </p:sp>
      <p:sp>
        <p:nvSpPr>
          <p:cNvPr id="321" name="Google Shape;321;p20"/>
          <p:cNvSpPr txBox="1"/>
          <p:nvPr/>
        </p:nvSpPr>
        <p:spPr>
          <a:xfrm>
            <a:off x="9584949" y="2992374"/>
            <a:ext cx="6239617" cy="29557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33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Complex or potentially disruptive features</a:t>
            </a:r>
            <a:endParaRPr/>
          </a:p>
          <a:p>
            <a:pPr indent="-230312" lvl="1" marL="460623" marR="0" rtl="0" algn="l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2133"/>
              <a:buFont typeface="Arial"/>
              <a:buChar char="•"/>
            </a:pPr>
            <a:r>
              <a:rPr b="0" i="0" lang="en-US" sz="2133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Multi-WAN</a:t>
            </a:r>
            <a:endParaRPr/>
          </a:p>
          <a:p>
            <a:pPr indent="-230312" lvl="1" marL="460623" marR="0" rtl="0" algn="l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2133"/>
              <a:buFont typeface="Arial"/>
              <a:buChar char="•"/>
            </a:pPr>
            <a:r>
              <a:rPr b="0" i="0" lang="en-US" sz="2133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Advanced QoS</a:t>
            </a:r>
            <a:endParaRPr/>
          </a:p>
          <a:p>
            <a:pPr indent="-230312" lvl="1" marL="460623" marR="0" rtl="0" algn="l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2133"/>
              <a:buFont typeface="Arial"/>
              <a:buChar char="•"/>
            </a:pPr>
            <a:r>
              <a:rPr b="0" i="0" lang="en-US" sz="2133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VLAN architecture</a:t>
            </a:r>
            <a:endParaRPr/>
          </a:p>
          <a:p>
            <a:pPr indent="-230312" lvl="1" marL="460623" marR="0" rtl="0" algn="l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2133"/>
              <a:buFont typeface="Arial"/>
              <a:buChar char="•"/>
            </a:pPr>
            <a:r>
              <a:rPr b="0" i="0" lang="en-US" sz="2133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NAC</a:t>
            </a:r>
            <a:endParaRPr/>
          </a:p>
          <a:p>
            <a:pPr indent="-230312" lvl="1" marL="460623" marR="0" rtl="0" algn="l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2133"/>
              <a:buFont typeface="Arial"/>
              <a:buChar char="•"/>
            </a:pPr>
            <a:r>
              <a:rPr b="0" i="0" lang="en-US" sz="2133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Failover</a:t>
            </a:r>
            <a:endParaRPr/>
          </a:p>
          <a:p>
            <a:pPr indent="-230312" lvl="1" marL="460623" marR="0" rtl="0" algn="l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2133"/>
              <a:buFont typeface="Arial"/>
              <a:buChar char="•"/>
            </a:pPr>
            <a:r>
              <a:rPr b="0" i="0" lang="en-US" sz="2133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Security experiments</a:t>
            </a:r>
            <a:endParaRPr/>
          </a:p>
          <a:p>
            <a:pPr indent="0" lvl="0" marL="0" marR="0" rtl="0" algn="l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33" u="none" cap="none" strike="noStrike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22" name="Google Shape;322;p20"/>
          <p:cNvSpPr txBox="1"/>
          <p:nvPr/>
        </p:nvSpPr>
        <p:spPr>
          <a:xfrm>
            <a:off x="1166675" y="6534008"/>
            <a:ext cx="14267318" cy="432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7035" lvl="1" marL="734069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3400"/>
              <a:buFont typeface="Arial"/>
              <a:buChar char="•"/>
            </a:pPr>
            <a:r>
              <a:rPr b="0" i="0" lang="en-US" sz="3400" u="none" cap="none" strike="noStrike">
                <a:solidFill>
                  <a:srgbClr val="303870"/>
                </a:solidFill>
                <a:latin typeface="DM Sans"/>
                <a:ea typeface="DM Sans"/>
                <a:cs typeface="DM Sans"/>
                <a:sym typeface="DM Sans"/>
              </a:rPr>
              <a:t>TOOLS</a:t>
            </a:r>
            <a:endParaRPr/>
          </a:p>
        </p:txBody>
      </p:sp>
      <p:sp>
        <p:nvSpPr>
          <p:cNvPr id="323" name="Google Shape;323;p20"/>
          <p:cNvSpPr txBox="1"/>
          <p:nvPr/>
        </p:nvSpPr>
        <p:spPr>
          <a:xfrm>
            <a:off x="2171687" y="7109573"/>
            <a:ext cx="7413262" cy="7273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12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GNS3 / EVE-NG / Packet Tracer / Virtual Machines / Linux</a:t>
            </a:r>
            <a:endParaRPr/>
          </a:p>
          <a:p>
            <a:pPr indent="0" lvl="0" marL="0" marR="0" rtl="0" algn="l">
              <a:lnSpc>
                <a:spcPct val="1400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112" u="none" cap="none" strike="noStrike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EDE2"/>
        </a:solidFill>
      </p:bgPr>
    </p:bg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8" name="Google Shape;328;p21"/>
          <p:cNvGrpSpPr/>
          <p:nvPr/>
        </p:nvGrpSpPr>
        <p:grpSpPr>
          <a:xfrm>
            <a:off x="17259300" y="-325842"/>
            <a:ext cx="3086100" cy="10648652"/>
            <a:chOff x="0" y="-95250"/>
            <a:chExt cx="812800" cy="2804583"/>
          </a:xfrm>
        </p:grpSpPr>
        <p:sp>
          <p:nvSpPr>
            <p:cNvPr id="329" name="Google Shape;329;p21"/>
            <p:cNvSpPr/>
            <p:nvPr/>
          </p:nvSpPr>
          <p:spPr>
            <a:xfrm>
              <a:off x="0" y="0"/>
              <a:ext cx="812800" cy="2709333"/>
            </a:xfrm>
            <a:custGeom>
              <a:rect b="b" l="l" r="r" t="t"/>
              <a:pathLst>
                <a:path extrusionOk="0" h="2709333" w="812800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21"/>
            <p:cNvSpPr txBox="1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2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1" name="Google Shape;331;p21"/>
          <p:cNvSpPr txBox="1"/>
          <p:nvPr/>
        </p:nvSpPr>
        <p:spPr>
          <a:xfrm>
            <a:off x="1028700" y="1133475"/>
            <a:ext cx="13286185" cy="650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303870"/>
                </a:solidFill>
                <a:latin typeface="DM Sans"/>
                <a:ea typeface="DM Sans"/>
                <a:cs typeface="DM Sans"/>
                <a:sym typeface="DM Sans"/>
              </a:rPr>
              <a:t> SECURITY &amp; AUTHORIZATION</a:t>
            </a:r>
            <a:endParaRPr/>
          </a:p>
        </p:txBody>
      </p:sp>
      <p:sp>
        <p:nvSpPr>
          <p:cNvPr id="332" name="Google Shape;332;p21"/>
          <p:cNvSpPr txBox="1"/>
          <p:nvPr/>
        </p:nvSpPr>
        <p:spPr>
          <a:xfrm>
            <a:off x="1047750" y="2075147"/>
            <a:ext cx="14267318" cy="432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7035" lvl="1" marL="734069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3400"/>
              <a:buFont typeface="Arial"/>
              <a:buChar char="•"/>
            </a:pPr>
            <a:r>
              <a:rPr b="0" i="0" lang="en-US" sz="3400" u="none" cap="none" strike="noStrike">
                <a:solidFill>
                  <a:srgbClr val="303870"/>
                </a:solidFill>
                <a:latin typeface="DM Sans"/>
                <a:ea typeface="DM Sans"/>
                <a:cs typeface="DM Sans"/>
                <a:sym typeface="DM Sans"/>
              </a:rPr>
              <a:t>RESPONSIBLE IMPLEMENTATION</a:t>
            </a:r>
            <a:endParaRPr/>
          </a:p>
        </p:txBody>
      </p:sp>
      <p:sp>
        <p:nvSpPr>
          <p:cNvPr id="333" name="Google Shape;333;p21"/>
          <p:cNvSpPr txBox="1"/>
          <p:nvPr/>
        </p:nvSpPr>
        <p:spPr>
          <a:xfrm>
            <a:off x="2611936" y="2669762"/>
            <a:ext cx="6194279" cy="10988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12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Before accessing production infrastructure:</a:t>
            </a:r>
            <a:endParaRPr/>
          </a:p>
          <a:p>
            <a:pPr indent="0" lvl="0" marL="0" marR="0" rtl="0" algn="l">
              <a:lnSpc>
                <a:spcPct val="1400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12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Authorization → Defined Scope → Supervision</a:t>
            </a:r>
            <a:endParaRPr/>
          </a:p>
          <a:p>
            <a:pPr indent="0" lvl="0" marL="0" marR="0" rtl="0" algn="l">
              <a:lnSpc>
                <a:spcPct val="1400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112" u="none" cap="none" strike="noStrike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34" name="Google Shape;334;p21"/>
          <p:cNvSpPr txBox="1"/>
          <p:nvPr/>
        </p:nvSpPr>
        <p:spPr>
          <a:xfrm>
            <a:off x="3915247" y="3548266"/>
            <a:ext cx="5228753" cy="51845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33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Rules</a:t>
            </a:r>
            <a:endParaRPr/>
          </a:p>
          <a:p>
            <a:pPr indent="-230312" lvl="1" marL="460623" marR="0" rtl="0" algn="l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2133"/>
              <a:buFont typeface="Arial"/>
              <a:buChar char="•"/>
            </a:pPr>
            <a:r>
              <a:rPr b="0" i="0" lang="en-US" sz="2133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Written authorization</a:t>
            </a:r>
            <a:endParaRPr/>
          </a:p>
          <a:p>
            <a:pPr indent="-230312" lvl="1" marL="460623" marR="0" rtl="0" algn="l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2133"/>
              <a:buFont typeface="Arial"/>
              <a:buChar char="•"/>
            </a:pPr>
            <a:r>
              <a:rPr b="0" i="0" lang="en-US" sz="2133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Read-only access by default</a:t>
            </a:r>
            <a:endParaRPr/>
          </a:p>
          <a:p>
            <a:pPr indent="-230312" lvl="1" marL="460623" marR="0" rtl="0" algn="l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2133"/>
              <a:buFont typeface="Arial"/>
              <a:buChar char="•"/>
            </a:pPr>
            <a:r>
              <a:rPr b="0" i="0" lang="en-US" sz="2133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Individual accounts</a:t>
            </a:r>
            <a:endParaRPr/>
          </a:p>
          <a:p>
            <a:pPr indent="-230312" lvl="1" marL="460623" marR="0" rtl="0" algn="l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2133"/>
              <a:buFont typeface="Arial"/>
              <a:buChar char="•"/>
            </a:pPr>
            <a:r>
              <a:rPr b="0" i="0" lang="en-US" sz="2133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Configuration backups</a:t>
            </a:r>
            <a:endParaRPr/>
          </a:p>
          <a:p>
            <a:pPr indent="-230312" lvl="1" marL="460623" marR="0" rtl="0" algn="l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2133"/>
              <a:buFont typeface="Arial"/>
              <a:buChar char="•"/>
            </a:pPr>
            <a:r>
              <a:rPr b="0" i="0" lang="en-US" sz="2133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Approved change procedures</a:t>
            </a:r>
            <a:endParaRPr/>
          </a:p>
          <a:p>
            <a:pPr indent="-230312" lvl="1" marL="460623" marR="0" rtl="0" algn="l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2133"/>
              <a:buFont typeface="Arial"/>
              <a:buChar char="•"/>
            </a:pPr>
            <a:r>
              <a:rPr b="0" i="0" lang="en-US" sz="2133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No destructive testing</a:t>
            </a:r>
            <a:endParaRPr/>
          </a:p>
          <a:p>
            <a:pPr indent="-230312" lvl="1" marL="460623" marR="0" rtl="0" algn="l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2133"/>
              <a:buFont typeface="Arial"/>
              <a:buChar char="•"/>
            </a:pPr>
            <a:r>
              <a:rPr b="0" i="0" lang="en-US" sz="2133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No unauthorized scanning</a:t>
            </a:r>
            <a:endParaRPr/>
          </a:p>
          <a:p>
            <a:pPr indent="-230312" lvl="1" marL="460623" marR="0" rtl="0" algn="l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2133"/>
              <a:buFont typeface="Arial"/>
              <a:buChar char="•"/>
            </a:pPr>
            <a:r>
              <a:rPr b="0" i="0" lang="en-US" sz="2133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No DoS/flooding</a:t>
            </a:r>
            <a:endParaRPr/>
          </a:p>
          <a:p>
            <a:pPr indent="-230312" lvl="1" marL="460623" marR="0" rtl="0" algn="l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2133"/>
              <a:buFont typeface="Arial"/>
              <a:buChar char="•"/>
            </a:pPr>
            <a:r>
              <a:rPr b="0" i="0" lang="en-US" sz="2133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No credential attacks</a:t>
            </a:r>
            <a:endParaRPr/>
          </a:p>
          <a:p>
            <a:pPr indent="-230312" lvl="1" marL="460623" marR="0" rtl="0" algn="l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2133"/>
              <a:buFont typeface="Arial"/>
              <a:buChar char="•"/>
            </a:pPr>
            <a:r>
              <a:rPr b="0" i="0" lang="en-US" sz="2133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Protect confidential information</a:t>
            </a:r>
            <a:endParaRPr/>
          </a:p>
          <a:p>
            <a:pPr indent="-230312" lvl="1" marL="460623" marR="0" rtl="0" algn="l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2133"/>
              <a:buFont typeface="Arial"/>
              <a:buChar char="•"/>
            </a:pPr>
            <a:r>
              <a:rPr b="0" i="0" lang="en-US" sz="2133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Remove temporary access after project completion</a:t>
            </a:r>
            <a:endParaRPr/>
          </a:p>
          <a:p>
            <a:pPr indent="0" lvl="0" marL="0" marR="0" rtl="0" algn="l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33" u="none" cap="none" strike="noStrike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EDE2"/>
        </a:solidFill>
      </p:bgPr>
    </p:bg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9" name="Google Shape;339;p22"/>
          <p:cNvGrpSpPr/>
          <p:nvPr/>
        </p:nvGrpSpPr>
        <p:grpSpPr>
          <a:xfrm>
            <a:off x="17259300" y="-325842"/>
            <a:ext cx="3086100" cy="10648652"/>
            <a:chOff x="0" y="-95250"/>
            <a:chExt cx="812800" cy="2804583"/>
          </a:xfrm>
        </p:grpSpPr>
        <p:sp>
          <p:nvSpPr>
            <p:cNvPr id="340" name="Google Shape;340;p22"/>
            <p:cNvSpPr/>
            <p:nvPr/>
          </p:nvSpPr>
          <p:spPr>
            <a:xfrm>
              <a:off x="0" y="0"/>
              <a:ext cx="812800" cy="2709333"/>
            </a:xfrm>
            <a:custGeom>
              <a:rect b="b" l="l" r="r" t="t"/>
              <a:pathLst>
                <a:path extrusionOk="0" h="2709333" w="812800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22"/>
            <p:cNvSpPr txBox="1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2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2" name="Google Shape;342;p22"/>
          <p:cNvSpPr txBox="1"/>
          <p:nvPr/>
        </p:nvSpPr>
        <p:spPr>
          <a:xfrm>
            <a:off x="1028700" y="1133475"/>
            <a:ext cx="13286185" cy="650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303870"/>
                </a:solidFill>
                <a:latin typeface="DM Sans"/>
                <a:ea typeface="DM Sans"/>
                <a:cs typeface="DM Sans"/>
                <a:sym typeface="DM Sans"/>
              </a:rPr>
              <a:t>PROJECT SCOPE</a:t>
            </a:r>
            <a:endParaRPr/>
          </a:p>
        </p:txBody>
      </p:sp>
      <p:sp>
        <p:nvSpPr>
          <p:cNvPr id="343" name="Google Shape;343;p22"/>
          <p:cNvSpPr txBox="1"/>
          <p:nvPr/>
        </p:nvSpPr>
        <p:spPr>
          <a:xfrm>
            <a:off x="1047750" y="2075147"/>
            <a:ext cx="14267318" cy="432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7035" lvl="1" marL="734069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3400"/>
              <a:buFont typeface="Arial"/>
              <a:buChar char="•"/>
            </a:pPr>
            <a:r>
              <a:rPr b="0" i="0" lang="en-US" sz="3400" u="none" cap="none" strike="noStrike">
                <a:solidFill>
                  <a:srgbClr val="303870"/>
                </a:solidFill>
                <a:latin typeface="DM Sans"/>
                <a:ea typeface="DM Sans"/>
                <a:cs typeface="DM Sans"/>
                <a:sym typeface="DM Sans"/>
              </a:rPr>
              <a:t>CORE DELIVERABLES</a:t>
            </a:r>
            <a:endParaRPr/>
          </a:p>
        </p:txBody>
      </p:sp>
      <p:sp>
        <p:nvSpPr>
          <p:cNvPr id="344" name="Google Shape;344;p22"/>
          <p:cNvSpPr txBox="1"/>
          <p:nvPr/>
        </p:nvSpPr>
        <p:spPr>
          <a:xfrm>
            <a:off x="2309757" y="2669762"/>
            <a:ext cx="10445190" cy="44429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30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Priority 1 — Core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30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Network Assessment + Monitoring + Documentation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30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Priority 2 — Framework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30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Health Assessment + Reporting + Operational Workflow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30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Priority 3 — Controlled Improvements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30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QoS + Access Control + Segmentation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30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Priority 4 — Lab Validation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30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Multi-WAN + NAC + Advanced Failover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30" u="none" cap="none" strike="noStrike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EDE2"/>
        </a:solidFill>
      </p:bgPr>
    </p:bg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9" name="Google Shape;349;p23"/>
          <p:cNvGrpSpPr/>
          <p:nvPr/>
        </p:nvGrpSpPr>
        <p:grpSpPr>
          <a:xfrm>
            <a:off x="17259300" y="-325842"/>
            <a:ext cx="3086100" cy="10648652"/>
            <a:chOff x="0" y="-95250"/>
            <a:chExt cx="812800" cy="2804583"/>
          </a:xfrm>
        </p:grpSpPr>
        <p:sp>
          <p:nvSpPr>
            <p:cNvPr id="350" name="Google Shape;350;p23"/>
            <p:cNvSpPr/>
            <p:nvPr/>
          </p:nvSpPr>
          <p:spPr>
            <a:xfrm>
              <a:off x="0" y="0"/>
              <a:ext cx="812800" cy="2709333"/>
            </a:xfrm>
            <a:custGeom>
              <a:rect b="b" l="l" r="r" t="t"/>
              <a:pathLst>
                <a:path extrusionOk="0" h="2709333" w="812800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23"/>
            <p:cNvSpPr txBox="1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2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2" name="Google Shape;352;p23"/>
          <p:cNvSpPr txBox="1"/>
          <p:nvPr/>
        </p:nvSpPr>
        <p:spPr>
          <a:xfrm>
            <a:off x="1028700" y="1133475"/>
            <a:ext cx="13286185" cy="650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303870"/>
                </a:solidFill>
                <a:latin typeface="DM Sans"/>
                <a:ea typeface="DM Sans"/>
                <a:cs typeface="DM Sans"/>
                <a:sym typeface="DM Sans"/>
              </a:rPr>
              <a:t> EXPECTED OUTCOMES</a:t>
            </a:r>
            <a:endParaRPr/>
          </a:p>
        </p:txBody>
      </p:sp>
      <p:sp>
        <p:nvSpPr>
          <p:cNvPr id="353" name="Google Shape;353;p23"/>
          <p:cNvSpPr txBox="1"/>
          <p:nvPr/>
        </p:nvSpPr>
        <p:spPr>
          <a:xfrm>
            <a:off x="1047750" y="2075147"/>
            <a:ext cx="14267318" cy="432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7035" lvl="1" marL="734069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3400"/>
              <a:buFont typeface="Arial"/>
              <a:buChar char="•"/>
            </a:pPr>
            <a:r>
              <a:rPr b="0" i="0" lang="en-US" sz="3400" u="none" cap="none" strike="noStrike">
                <a:solidFill>
                  <a:srgbClr val="303870"/>
                </a:solidFill>
                <a:latin typeface="DM Sans"/>
                <a:ea typeface="DM Sans"/>
                <a:cs typeface="DM Sans"/>
                <a:sym typeface="DM Sans"/>
              </a:rPr>
              <a:t>EXPECTED RESULTS</a:t>
            </a:r>
            <a:endParaRPr/>
          </a:p>
        </p:txBody>
      </p:sp>
      <p:sp>
        <p:nvSpPr>
          <p:cNvPr id="354" name="Google Shape;354;p23"/>
          <p:cNvSpPr txBox="1"/>
          <p:nvPr/>
        </p:nvSpPr>
        <p:spPr>
          <a:xfrm>
            <a:off x="2577338" y="2679287"/>
            <a:ext cx="7992145" cy="68506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65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Technical</a:t>
            </a:r>
            <a:endParaRPr/>
          </a:p>
          <a:p>
            <a:pPr indent="-233792" lvl="1" marL="467584" marR="0" rtl="0" algn="l">
              <a:lnSpc>
                <a:spcPct val="140046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2165"/>
              <a:buFont typeface="Arial"/>
              <a:buChar char="•"/>
            </a:pPr>
            <a:r>
              <a:rPr b="0" i="0" lang="en-US" sz="2165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Better network visibility</a:t>
            </a:r>
            <a:endParaRPr/>
          </a:p>
          <a:p>
            <a:pPr indent="-233792" lvl="1" marL="467584" marR="0" rtl="0" algn="l">
              <a:lnSpc>
                <a:spcPct val="140046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2165"/>
              <a:buFont typeface="Arial"/>
              <a:buChar char="•"/>
            </a:pPr>
            <a:r>
              <a:rPr b="0" i="0" lang="en-US" sz="2165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Improved performance management</a:t>
            </a:r>
            <a:endParaRPr/>
          </a:p>
          <a:p>
            <a:pPr indent="-233792" lvl="1" marL="467584" marR="0" rtl="0" algn="l">
              <a:lnSpc>
                <a:spcPct val="140046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2165"/>
              <a:buFont typeface="Arial"/>
              <a:buChar char="•"/>
            </a:pPr>
            <a:r>
              <a:rPr b="0" i="0" lang="en-US" sz="2165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Improved reliability</a:t>
            </a:r>
            <a:endParaRPr/>
          </a:p>
          <a:p>
            <a:pPr indent="-233792" lvl="1" marL="467584" marR="0" rtl="0" algn="l">
              <a:lnSpc>
                <a:spcPct val="140046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2165"/>
              <a:buFont typeface="Arial"/>
              <a:buChar char="•"/>
            </a:pPr>
            <a:r>
              <a:rPr b="0" i="0" lang="en-US" sz="2165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Improved access control</a:t>
            </a:r>
            <a:endParaRPr/>
          </a:p>
          <a:p>
            <a:pPr indent="-233792" lvl="1" marL="467584" marR="0" rtl="0" algn="l">
              <a:lnSpc>
                <a:spcPct val="140046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2165"/>
              <a:buFont typeface="Arial"/>
              <a:buChar char="•"/>
            </a:pPr>
            <a:r>
              <a:rPr b="0" i="0" lang="en-US" sz="2165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Better network segmentation</a:t>
            </a:r>
            <a:endParaRPr/>
          </a:p>
          <a:p>
            <a:pPr indent="0" lvl="0" marL="0" marR="0" rtl="0" algn="l">
              <a:lnSpc>
                <a:spcPct val="14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65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Operational</a:t>
            </a:r>
            <a:endParaRPr/>
          </a:p>
          <a:p>
            <a:pPr indent="-233792" lvl="1" marL="467584" marR="0" rtl="0" algn="l">
              <a:lnSpc>
                <a:spcPct val="140046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2165"/>
              <a:buFont typeface="Arial"/>
              <a:buChar char="•"/>
            </a:pPr>
            <a:r>
              <a:rPr b="0" i="0" lang="en-US" sz="2165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Centralized information</a:t>
            </a:r>
            <a:endParaRPr/>
          </a:p>
          <a:p>
            <a:pPr indent="-233792" lvl="1" marL="467584" marR="0" rtl="0" algn="l">
              <a:lnSpc>
                <a:spcPct val="140046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2165"/>
              <a:buFont typeface="Arial"/>
              <a:buChar char="•"/>
            </a:pPr>
            <a:r>
              <a:rPr b="0" i="0" lang="en-US" sz="2165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Faster troubleshooting</a:t>
            </a:r>
            <a:endParaRPr/>
          </a:p>
          <a:p>
            <a:pPr indent="-233792" lvl="1" marL="467584" marR="0" rtl="0" algn="l">
              <a:lnSpc>
                <a:spcPct val="140046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2165"/>
              <a:buFont typeface="Arial"/>
              <a:buChar char="•"/>
            </a:pPr>
            <a:r>
              <a:rPr b="0" i="0" lang="en-US" sz="2165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Standardized workflow</a:t>
            </a:r>
            <a:endParaRPr/>
          </a:p>
          <a:p>
            <a:pPr indent="-233792" lvl="1" marL="467584" marR="0" rtl="0" algn="l">
              <a:lnSpc>
                <a:spcPct val="140046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2165"/>
              <a:buFont typeface="Arial"/>
              <a:buChar char="•"/>
            </a:pPr>
            <a:r>
              <a:rPr b="0" i="0" lang="en-US" sz="2165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Configuration records</a:t>
            </a:r>
            <a:endParaRPr/>
          </a:p>
          <a:p>
            <a:pPr indent="-233792" lvl="1" marL="467584" marR="0" rtl="0" algn="l">
              <a:lnSpc>
                <a:spcPct val="140046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2165"/>
              <a:buFont typeface="Arial"/>
              <a:buChar char="•"/>
            </a:pPr>
            <a:r>
              <a:rPr b="0" i="0" lang="en-US" sz="2165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Future maintenance capability</a:t>
            </a:r>
            <a:endParaRPr/>
          </a:p>
          <a:p>
            <a:pPr indent="0" lvl="0" marL="0" marR="0" rtl="0" algn="l">
              <a:lnSpc>
                <a:spcPct val="14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65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Academic</a:t>
            </a:r>
            <a:endParaRPr/>
          </a:p>
          <a:p>
            <a:pPr indent="-233792" lvl="1" marL="467584" marR="0" rtl="0" algn="l">
              <a:lnSpc>
                <a:spcPct val="140046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2165"/>
              <a:buFont typeface="Arial"/>
              <a:buChar char="•"/>
            </a:pPr>
            <a:r>
              <a:rPr b="0" i="0" lang="en-US" sz="2165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Real-world networking case study</a:t>
            </a:r>
            <a:endParaRPr/>
          </a:p>
          <a:p>
            <a:pPr indent="-233792" lvl="1" marL="467584" marR="0" rtl="0" algn="l">
              <a:lnSpc>
                <a:spcPct val="140046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2165"/>
              <a:buFont typeface="Arial"/>
              <a:buChar char="•"/>
            </a:pPr>
            <a:r>
              <a:rPr b="0" i="0" lang="en-US" sz="2165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Quantitative evaluation</a:t>
            </a:r>
            <a:endParaRPr/>
          </a:p>
          <a:p>
            <a:pPr indent="-233792" lvl="1" marL="467584" marR="0" rtl="0" algn="l">
              <a:lnSpc>
                <a:spcPct val="140046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2165"/>
              <a:buFont typeface="Arial"/>
              <a:buChar char="•"/>
            </a:pPr>
            <a:r>
              <a:rPr b="0" i="0" lang="en-US" sz="2165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Practical network engineering methodology</a:t>
            </a:r>
            <a:endParaRPr/>
          </a:p>
          <a:p>
            <a:pPr indent="-233792" lvl="1" marL="467584" marR="0" rtl="0" algn="l">
              <a:lnSpc>
                <a:spcPct val="140046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2165"/>
              <a:buFont typeface="Arial"/>
              <a:buChar char="•"/>
            </a:pPr>
            <a:r>
              <a:rPr b="0" i="0" lang="en-US" sz="2165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Integration of existing technologies</a:t>
            </a:r>
            <a:endParaRPr/>
          </a:p>
          <a:p>
            <a:pPr indent="0" lvl="0" marL="0" marR="0" rtl="0" algn="l">
              <a:lnSpc>
                <a:spcPct val="14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65" u="none" cap="none" strike="noStrike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EDE2"/>
        </a:solidFill>
      </p:bgPr>
    </p:bg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9" name="Google Shape;359;p24"/>
          <p:cNvGrpSpPr/>
          <p:nvPr/>
        </p:nvGrpSpPr>
        <p:grpSpPr>
          <a:xfrm>
            <a:off x="17259300" y="-325842"/>
            <a:ext cx="3086100" cy="10648652"/>
            <a:chOff x="0" y="-95250"/>
            <a:chExt cx="812800" cy="2804583"/>
          </a:xfrm>
        </p:grpSpPr>
        <p:sp>
          <p:nvSpPr>
            <p:cNvPr id="360" name="Google Shape;360;p24"/>
            <p:cNvSpPr/>
            <p:nvPr/>
          </p:nvSpPr>
          <p:spPr>
            <a:xfrm>
              <a:off x="0" y="0"/>
              <a:ext cx="812800" cy="2709333"/>
            </a:xfrm>
            <a:custGeom>
              <a:rect b="b" l="l" r="r" t="t"/>
              <a:pathLst>
                <a:path extrusionOk="0" h="2709333" w="812800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24"/>
            <p:cNvSpPr txBox="1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2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2" name="Google Shape;362;p24"/>
          <p:cNvSpPr txBox="1"/>
          <p:nvPr/>
        </p:nvSpPr>
        <p:spPr>
          <a:xfrm>
            <a:off x="1028700" y="1133475"/>
            <a:ext cx="13286185" cy="650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303870"/>
                </a:solidFill>
                <a:latin typeface="DM Sans"/>
                <a:ea typeface="DM Sans"/>
                <a:cs typeface="DM Sans"/>
                <a:sym typeface="DM Sans"/>
              </a:rPr>
              <a:t>PROJECT TIMELINE</a:t>
            </a:r>
            <a:endParaRPr/>
          </a:p>
        </p:txBody>
      </p:sp>
      <p:sp>
        <p:nvSpPr>
          <p:cNvPr id="363" name="Google Shape;363;p24"/>
          <p:cNvSpPr txBox="1"/>
          <p:nvPr/>
        </p:nvSpPr>
        <p:spPr>
          <a:xfrm>
            <a:off x="1047750" y="2075147"/>
            <a:ext cx="14267318" cy="432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7035" lvl="1" marL="734069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3400"/>
              <a:buFont typeface="Arial"/>
              <a:buChar char="•"/>
            </a:pPr>
            <a:r>
              <a:rPr b="0" i="0" lang="en-US" sz="3400" u="none" cap="none" strike="noStrike">
                <a:solidFill>
                  <a:srgbClr val="303870"/>
                </a:solidFill>
                <a:latin typeface="DM Sans"/>
                <a:ea typeface="DM Sans"/>
                <a:cs typeface="DM Sans"/>
                <a:sym typeface="DM Sans"/>
              </a:rPr>
              <a:t>7TH–8TH SEMESTER</a:t>
            </a:r>
            <a:endParaRPr/>
          </a:p>
        </p:txBody>
      </p:sp>
      <p:sp>
        <p:nvSpPr>
          <p:cNvPr id="364" name="Google Shape;364;p24"/>
          <p:cNvSpPr txBox="1"/>
          <p:nvPr/>
        </p:nvSpPr>
        <p:spPr>
          <a:xfrm>
            <a:off x="2577338" y="2679287"/>
            <a:ext cx="9598708" cy="50150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1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| Phase Number | Phase Work                              |</a:t>
            </a:r>
            <a:endParaRPr/>
          </a:p>
          <a:p>
            <a:pPr indent="0" lvl="0" marL="0" marR="0" rtl="0" algn="l">
              <a:lnSpc>
                <a:spcPct val="139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1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|--------------|-----------------------------------|</a:t>
            </a:r>
            <a:endParaRPr/>
          </a:p>
          <a:p>
            <a:pPr indent="0" lvl="0" marL="0" marR="0" rtl="0" algn="l">
              <a:lnSpc>
                <a:spcPct val="139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1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| 1                   | Research &amp; Requirements           |</a:t>
            </a:r>
            <a:endParaRPr/>
          </a:p>
          <a:p>
            <a:pPr indent="0" lvl="0" marL="0" marR="0" rtl="0" algn="l">
              <a:lnSpc>
                <a:spcPct val="139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1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| 2                   | PGI Network Assessment           |</a:t>
            </a:r>
            <a:endParaRPr/>
          </a:p>
          <a:p>
            <a:pPr indent="0" lvl="0" marL="0" marR="0" rtl="0" algn="l">
              <a:lnSpc>
                <a:spcPct val="139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1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| 3                   | Baseline Data Collection             |</a:t>
            </a:r>
            <a:endParaRPr/>
          </a:p>
          <a:p>
            <a:pPr indent="0" lvl="0" marL="0" marR="0" rtl="0" algn="l">
              <a:lnSpc>
                <a:spcPct val="139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1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| 4                   | Framework Design                       |</a:t>
            </a:r>
            <a:endParaRPr/>
          </a:p>
          <a:p>
            <a:pPr indent="0" lvl="0" marL="0" marR="0" rtl="0" algn="l">
              <a:lnSpc>
                <a:spcPct val="139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1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| 5                   | Tool Integration                            |</a:t>
            </a:r>
            <a:endParaRPr/>
          </a:p>
          <a:p>
            <a:pPr indent="0" lvl="0" marL="0" marR="0" rtl="0" algn="l">
              <a:lnSpc>
                <a:spcPct val="139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1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| 6                   | Lab/Controlled Implementation  |</a:t>
            </a:r>
            <a:endParaRPr/>
          </a:p>
          <a:p>
            <a:pPr indent="0" lvl="0" marL="0" marR="0" rtl="0" algn="l">
              <a:lnSpc>
                <a:spcPct val="139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1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| 7                   | Testing &amp; Evaluation                    |</a:t>
            </a:r>
            <a:endParaRPr/>
          </a:p>
          <a:p>
            <a:pPr indent="0" lvl="0" marL="0" marR="0" rtl="0" algn="l">
              <a:lnSpc>
                <a:spcPct val="139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1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| 8                   | Documentation                             |</a:t>
            </a:r>
            <a:endParaRPr/>
          </a:p>
          <a:p>
            <a:pPr indent="0" lvl="0" marL="0" marR="0" rtl="0" algn="l">
              <a:lnSpc>
                <a:spcPct val="139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1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| 9                   | Final Report &amp; Presentation       |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EDE2"/>
        </a:solidFill>
      </p:bgPr>
    </p:bg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9" name="Google Shape;369;p25"/>
          <p:cNvGrpSpPr/>
          <p:nvPr/>
        </p:nvGrpSpPr>
        <p:grpSpPr>
          <a:xfrm>
            <a:off x="17259300" y="-325842"/>
            <a:ext cx="3086100" cy="10648652"/>
            <a:chOff x="0" y="-95250"/>
            <a:chExt cx="812800" cy="2804583"/>
          </a:xfrm>
        </p:grpSpPr>
        <p:sp>
          <p:nvSpPr>
            <p:cNvPr id="370" name="Google Shape;370;p25"/>
            <p:cNvSpPr/>
            <p:nvPr/>
          </p:nvSpPr>
          <p:spPr>
            <a:xfrm>
              <a:off x="0" y="0"/>
              <a:ext cx="812800" cy="2709333"/>
            </a:xfrm>
            <a:custGeom>
              <a:rect b="b" l="l" r="r" t="t"/>
              <a:pathLst>
                <a:path extrusionOk="0" h="2709333" w="812800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25"/>
            <p:cNvSpPr txBox="1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2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2" name="Google Shape;372;p25"/>
          <p:cNvSpPr txBox="1"/>
          <p:nvPr/>
        </p:nvSpPr>
        <p:spPr>
          <a:xfrm>
            <a:off x="1028700" y="1133475"/>
            <a:ext cx="13286185" cy="650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303870"/>
                </a:solidFill>
                <a:latin typeface="DM Sans"/>
                <a:ea typeface="DM Sans"/>
                <a:cs typeface="DM Sans"/>
                <a:sym typeface="DM Sans"/>
              </a:rPr>
              <a:t> EXPECTED FINAL ARCHITECTURE</a:t>
            </a:r>
            <a:endParaRPr/>
          </a:p>
        </p:txBody>
      </p:sp>
      <p:sp>
        <p:nvSpPr>
          <p:cNvPr id="373" name="Google Shape;373;p25"/>
          <p:cNvSpPr txBox="1"/>
          <p:nvPr/>
        </p:nvSpPr>
        <p:spPr>
          <a:xfrm>
            <a:off x="1047750" y="2075147"/>
            <a:ext cx="14267318" cy="432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7035" lvl="1" marL="734069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3400"/>
              <a:buFont typeface="Arial"/>
              <a:buChar char="•"/>
            </a:pPr>
            <a:r>
              <a:rPr b="0" i="0" lang="en-US" sz="3400" u="none" cap="none" strike="noStrike">
                <a:solidFill>
                  <a:srgbClr val="303870"/>
                </a:solidFill>
                <a:latin typeface="DM Sans"/>
                <a:ea typeface="DM Sans"/>
                <a:cs typeface="DM Sans"/>
                <a:sym typeface="DM Sans"/>
              </a:rPr>
              <a:t>COMPLETE PROJECT VISION</a:t>
            </a:r>
            <a:endParaRPr/>
          </a:p>
        </p:txBody>
      </p:sp>
      <p:sp>
        <p:nvSpPr>
          <p:cNvPr id="374" name="Google Shape;374;p25"/>
          <p:cNvSpPr txBox="1"/>
          <p:nvPr/>
        </p:nvSpPr>
        <p:spPr>
          <a:xfrm>
            <a:off x="3810040" y="2557646"/>
            <a:ext cx="7247769" cy="67006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9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                                                          PGI CAMPUS</a:t>
            </a:r>
            <a:endParaRPr/>
          </a:p>
          <a:p>
            <a:pPr indent="0" lvl="0" marL="0" marR="0" rtl="0" algn="l">
              <a:lnSpc>
                <a:spcPct val="140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9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                                                                  │</a:t>
            </a:r>
            <a:endParaRPr/>
          </a:p>
          <a:p>
            <a:pPr indent="0" lvl="0" marL="0" marR="0" rtl="0" algn="l">
              <a:lnSpc>
                <a:spcPct val="140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9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       ┌───────────────┼────────────────┐</a:t>
            </a:r>
            <a:endParaRPr/>
          </a:p>
          <a:p>
            <a:pPr indent="0" lvl="0" marL="0" marR="0" rtl="0" algn="l">
              <a:lnSpc>
                <a:spcPct val="140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9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       │                                                       │                                                           │</a:t>
            </a:r>
            <a:endParaRPr/>
          </a:p>
          <a:p>
            <a:pPr indent="0" lvl="0" marL="0" marR="0" rtl="0" algn="l">
              <a:lnSpc>
                <a:spcPct val="140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9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   Monitoring                                       Security                                             Documentation</a:t>
            </a:r>
            <a:endParaRPr/>
          </a:p>
          <a:p>
            <a:pPr indent="0" lvl="0" marL="0" marR="0" rtl="0" algn="l">
              <a:lnSpc>
                <a:spcPct val="140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9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       │                                                       │                                                           │</a:t>
            </a:r>
            <a:endParaRPr/>
          </a:p>
          <a:p>
            <a:pPr indent="0" lvl="0" marL="0" marR="0" rtl="0" algn="l">
              <a:lnSpc>
                <a:spcPct val="140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9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       └───────────────┼────────────────┘</a:t>
            </a:r>
            <a:endParaRPr/>
          </a:p>
          <a:p>
            <a:pPr indent="0" lvl="0" marL="0" marR="0" rtl="0" algn="l">
              <a:lnSpc>
                <a:spcPct val="140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9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                                                                  ↓</a:t>
            </a:r>
            <a:endParaRPr/>
          </a:p>
          <a:p>
            <a:pPr indent="0" lvl="0" marL="0" marR="0" rtl="0" algn="l">
              <a:lnSpc>
                <a:spcPct val="140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9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                                          PGI MANAGEMENT FRAMEWORK</a:t>
            </a:r>
            <a:endParaRPr/>
          </a:p>
          <a:p>
            <a:pPr indent="0" lvl="0" marL="0" marR="0" rtl="0" algn="l">
              <a:lnSpc>
                <a:spcPct val="140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9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                                                                  │</a:t>
            </a:r>
            <a:endParaRPr/>
          </a:p>
          <a:p>
            <a:pPr indent="0" lvl="0" marL="0" marR="0" rtl="0" algn="l">
              <a:lnSpc>
                <a:spcPct val="140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9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       ┌───────────────┼────────────────┐</a:t>
            </a:r>
            <a:endParaRPr/>
          </a:p>
          <a:p>
            <a:pPr indent="0" lvl="0" marL="0" marR="0" rtl="0" algn="l">
              <a:lnSpc>
                <a:spcPct val="140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9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       │                                                       │                                                           │</a:t>
            </a:r>
            <a:endParaRPr/>
          </a:p>
          <a:p>
            <a:pPr indent="0" lvl="0" marL="0" marR="0" rtl="0" algn="l">
              <a:lnSpc>
                <a:spcPct val="140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9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Performance                                  Health Score                                           Workflows</a:t>
            </a:r>
            <a:endParaRPr/>
          </a:p>
          <a:p>
            <a:pPr indent="0" lvl="0" marL="0" marR="0" rtl="0" algn="l">
              <a:lnSpc>
                <a:spcPct val="140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9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Analysis                             </a:t>
            </a:r>
            <a:endParaRPr/>
          </a:p>
          <a:p>
            <a:pPr indent="0" lvl="0" marL="0" marR="0" rtl="0" algn="l">
              <a:lnSpc>
                <a:spcPct val="140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9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       │                                                       │                                                           │</a:t>
            </a:r>
            <a:endParaRPr/>
          </a:p>
          <a:p>
            <a:pPr indent="0" lvl="0" marL="0" marR="0" rtl="0" algn="l">
              <a:lnSpc>
                <a:spcPct val="140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9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       └───────────────┼────────────────┘</a:t>
            </a:r>
            <a:endParaRPr/>
          </a:p>
          <a:p>
            <a:pPr indent="0" lvl="0" marL="0" marR="0" rtl="0" algn="l">
              <a:lnSpc>
                <a:spcPct val="140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9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                                                                  ↓</a:t>
            </a:r>
            <a:endParaRPr/>
          </a:p>
          <a:p>
            <a:pPr indent="0" lvl="0" marL="0" marR="0" rtl="0" algn="l">
              <a:lnSpc>
                <a:spcPct val="140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9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                                                   Dashboard &amp; Reports</a:t>
            </a:r>
            <a:endParaRPr/>
          </a:p>
          <a:p>
            <a:pPr indent="0" lvl="0" marL="0" marR="0" rtl="0" algn="l">
              <a:lnSpc>
                <a:spcPct val="140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9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                                                                  ↓</a:t>
            </a:r>
            <a:endParaRPr/>
          </a:p>
          <a:p>
            <a:pPr indent="0" lvl="0" marL="0" marR="0" rtl="0" algn="l">
              <a:lnSpc>
                <a:spcPct val="140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9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                                                       Recommendations</a:t>
            </a:r>
            <a:endParaRPr/>
          </a:p>
          <a:p>
            <a:pPr indent="0" lvl="0" marL="0" marR="0" rtl="0" algn="l">
              <a:lnSpc>
                <a:spcPct val="140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9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                                                                  ↓</a:t>
            </a:r>
            <a:endParaRPr/>
          </a:p>
          <a:p>
            <a:pPr indent="0" lvl="0" marL="0" marR="0" rtl="0" algn="l">
              <a:lnSpc>
                <a:spcPct val="140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9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                                                         Administrator</a:t>
            </a:r>
            <a:endParaRPr/>
          </a:p>
          <a:p>
            <a:pPr indent="0" lvl="0" marL="0" marR="0" rtl="0" algn="l">
              <a:lnSpc>
                <a:spcPct val="140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9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                                                                  ↓</a:t>
            </a:r>
            <a:endParaRPr/>
          </a:p>
          <a:p>
            <a:pPr indent="0" lvl="0" marL="0" marR="0" rtl="0" algn="l">
              <a:lnSpc>
                <a:spcPct val="140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9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                                                       Approved Action</a:t>
            </a:r>
            <a:endParaRPr/>
          </a:p>
          <a:p>
            <a:pPr indent="0" lvl="0" marL="0" marR="0" rtl="0" algn="l">
              <a:lnSpc>
                <a:spcPct val="140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9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                                                                  ↓</a:t>
            </a:r>
            <a:endParaRPr/>
          </a:p>
          <a:p>
            <a:pPr indent="0" lvl="0" marL="0" marR="0" rtl="0" algn="l">
              <a:lnSpc>
                <a:spcPct val="140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9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                                                           Verification</a:t>
            </a:r>
            <a:endParaRPr/>
          </a:p>
          <a:p>
            <a:pPr indent="0" lvl="0" marL="0" marR="0" rtl="0" algn="l">
              <a:lnSpc>
                <a:spcPct val="140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9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                                                                  ↓</a:t>
            </a:r>
            <a:endParaRPr/>
          </a:p>
          <a:p>
            <a:pPr indent="0" lvl="0" marL="0" marR="0" rtl="0" algn="l">
              <a:lnSpc>
                <a:spcPct val="140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9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                                                       Documentation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EDE2"/>
        </a:solidFill>
      </p:bgPr>
    </p:bg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9" name="Google Shape;379;p26"/>
          <p:cNvGrpSpPr/>
          <p:nvPr/>
        </p:nvGrpSpPr>
        <p:grpSpPr>
          <a:xfrm>
            <a:off x="17259300" y="-325842"/>
            <a:ext cx="3086100" cy="10648652"/>
            <a:chOff x="0" y="-95250"/>
            <a:chExt cx="812800" cy="2804583"/>
          </a:xfrm>
        </p:grpSpPr>
        <p:sp>
          <p:nvSpPr>
            <p:cNvPr id="380" name="Google Shape;380;p26"/>
            <p:cNvSpPr/>
            <p:nvPr/>
          </p:nvSpPr>
          <p:spPr>
            <a:xfrm>
              <a:off x="0" y="0"/>
              <a:ext cx="812800" cy="2709333"/>
            </a:xfrm>
            <a:custGeom>
              <a:rect b="b" l="l" r="r" t="t"/>
              <a:pathLst>
                <a:path extrusionOk="0" h="2709333" w="812800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26"/>
            <p:cNvSpPr txBox="1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2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2" name="Google Shape;382;p26"/>
          <p:cNvSpPr txBox="1"/>
          <p:nvPr/>
        </p:nvSpPr>
        <p:spPr>
          <a:xfrm>
            <a:off x="1028700" y="1133475"/>
            <a:ext cx="13286185" cy="650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303870"/>
                </a:solidFill>
                <a:latin typeface="DM Sans"/>
                <a:ea typeface="DM Sans"/>
                <a:cs typeface="DM Sans"/>
                <a:sym typeface="DM Sans"/>
              </a:rPr>
              <a:t>OUR MAIN CONTRIBUTION</a:t>
            </a:r>
            <a:endParaRPr/>
          </a:p>
        </p:txBody>
      </p:sp>
      <p:sp>
        <p:nvSpPr>
          <p:cNvPr id="383" name="Google Shape;383;p26"/>
          <p:cNvSpPr txBox="1"/>
          <p:nvPr/>
        </p:nvSpPr>
        <p:spPr>
          <a:xfrm>
            <a:off x="1047750" y="2075147"/>
            <a:ext cx="14267318" cy="432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7035" lvl="1" marL="734069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3400"/>
              <a:buFont typeface="Arial"/>
              <a:buChar char="•"/>
            </a:pPr>
            <a:r>
              <a:rPr b="0" i="0" lang="en-US" sz="3400" u="none" cap="none" strike="noStrike">
                <a:solidFill>
                  <a:srgbClr val="303870"/>
                </a:solidFill>
                <a:latin typeface="DM Sans"/>
                <a:ea typeface="DM Sans"/>
                <a:cs typeface="DM Sans"/>
                <a:sym typeface="DM Sans"/>
              </a:rPr>
              <a:t>WHAT ARE WE ACTUALLY DELIVERING?</a:t>
            </a:r>
            <a:endParaRPr/>
          </a:p>
        </p:txBody>
      </p:sp>
      <p:sp>
        <p:nvSpPr>
          <p:cNvPr id="384" name="Google Shape;384;p26"/>
          <p:cNvSpPr txBox="1"/>
          <p:nvPr/>
        </p:nvSpPr>
        <p:spPr>
          <a:xfrm>
            <a:off x="2219415" y="2548121"/>
            <a:ext cx="6924585" cy="6637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22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1.</a:t>
            </a:r>
            <a:endParaRPr/>
          </a:p>
          <a:p>
            <a:pPr indent="0" lvl="0" marL="0" marR="0" rtl="0" algn="l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22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PGI Network Baseline</a:t>
            </a:r>
            <a:endParaRPr/>
          </a:p>
          <a:p>
            <a:pPr indent="0" lvl="0" marL="0" marR="0" rtl="0" algn="l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22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2.</a:t>
            </a:r>
            <a:endParaRPr/>
          </a:p>
          <a:p>
            <a:pPr indent="0" lvl="0" marL="0" marR="0" rtl="0" algn="l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22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Integrated Network Management Environment</a:t>
            </a:r>
            <a:endParaRPr/>
          </a:p>
          <a:p>
            <a:pPr indent="0" lvl="0" marL="0" marR="0" rtl="0" algn="l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22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3.</a:t>
            </a:r>
            <a:endParaRPr/>
          </a:p>
          <a:p>
            <a:pPr indent="0" lvl="0" marL="0" marR="0" rtl="0" algn="l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22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PGI Network Health Assessment</a:t>
            </a:r>
            <a:endParaRPr/>
          </a:p>
          <a:p>
            <a:pPr indent="0" lvl="0" marL="0" marR="0" rtl="0" algn="l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22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4.</a:t>
            </a:r>
            <a:endParaRPr/>
          </a:p>
          <a:p>
            <a:pPr indent="0" lvl="0" marL="0" marR="0" rtl="0" algn="l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22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Customized Operational Workflows</a:t>
            </a:r>
            <a:endParaRPr/>
          </a:p>
          <a:p>
            <a:pPr indent="0" lvl="0" marL="0" marR="0" rtl="0" algn="l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22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5.</a:t>
            </a:r>
            <a:endParaRPr/>
          </a:p>
          <a:p>
            <a:pPr indent="0" lvl="0" marL="0" marR="0" rtl="0" algn="l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22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Automated/Structured Reporting</a:t>
            </a:r>
            <a:endParaRPr/>
          </a:p>
          <a:p>
            <a:pPr indent="0" lvl="0" marL="0" marR="0" rtl="0" algn="l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22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6.</a:t>
            </a:r>
            <a:endParaRPr/>
          </a:p>
          <a:p>
            <a:pPr indent="0" lvl="0" marL="0" marR="0" rtl="0" algn="l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22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Network Documentation Framework</a:t>
            </a:r>
            <a:endParaRPr/>
          </a:p>
          <a:p>
            <a:pPr indent="0" lvl="0" marL="0" marR="0" rtl="0" algn="l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22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7.</a:t>
            </a:r>
            <a:endParaRPr/>
          </a:p>
          <a:p>
            <a:pPr indent="0" lvl="0" marL="0" marR="0" rtl="0" algn="l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22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Quantitative Before/After Evaluation</a:t>
            </a:r>
            <a:endParaRPr/>
          </a:p>
          <a:p>
            <a:pPr indent="0" lvl="0" marL="0" marR="0" rtl="0" algn="l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22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8.</a:t>
            </a:r>
            <a:endParaRPr/>
          </a:p>
          <a:p>
            <a:pPr indent="0" lvl="0" marL="0" marR="0" rtl="0" algn="l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22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Validated Network Improvement Designs</a:t>
            </a:r>
            <a:endParaRPr/>
          </a:p>
          <a:p>
            <a:pPr indent="0" lvl="0" marL="0" marR="0" rtl="0" algn="l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222" u="none" cap="none" strike="noStrike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EDE2"/>
        </a:solidFill>
      </p:bgPr>
    </p:bg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9" name="Google Shape;389;p27"/>
          <p:cNvGrpSpPr/>
          <p:nvPr/>
        </p:nvGrpSpPr>
        <p:grpSpPr>
          <a:xfrm>
            <a:off x="17259300" y="-325842"/>
            <a:ext cx="3086100" cy="10648652"/>
            <a:chOff x="0" y="-95250"/>
            <a:chExt cx="812800" cy="2804583"/>
          </a:xfrm>
        </p:grpSpPr>
        <p:sp>
          <p:nvSpPr>
            <p:cNvPr id="390" name="Google Shape;390;p27"/>
            <p:cNvSpPr/>
            <p:nvPr/>
          </p:nvSpPr>
          <p:spPr>
            <a:xfrm>
              <a:off x="0" y="0"/>
              <a:ext cx="812800" cy="2709333"/>
            </a:xfrm>
            <a:custGeom>
              <a:rect b="b" l="l" r="r" t="t"/>
              <a:pathLst>
                <a:path extrusionOk="0" h="2709333" w="812800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27"/>
            <p:cNvSpPr txBox="1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2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2" name="Google Shape;392;p27"/>
          <p:cNvSpPr txBox="1"/>
          <p:nvPr/>
        </p:nvSpPr>
        <p:spPr>
          <a:xfrm>
            <a:off x="1028700" y="1133475"/>
            <a:ext cx="13286185" cy="650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303870"/>
                </a:solidFill>
                <a:latin typeface="DM Sans"/>
                <a:ea typeface="DM Sans"/>
                <a:cs typeface="DM Sans"/>
                <a:sym typeface="DM Sans"/>
              </a:rPr>
              <a:t>CONCLUSION</a:t>
            </a:r>
            <a:endParaRPr/>
          </a:p>
        </p:txBody>
      </p:sp>
      <p:sp>
        <p:nvSpPr>
          <p:cNvPr id="393" name="Google Shape;393;p27"/>
          <p:cNvSpPr txBox="1"/>
          <p:nvPr/>
        </p:nvSpPr>
        <p:spPr>
          <a:xfrm>
            <a:off x="1047750" y="2075147"/>
            <a:ext cx="14267318" cy="432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7035" lvl="1" marL="734069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3400"/>
              <a:buFont typeface="Arial"/>
              <a:buChar char="•"/>
            </a:pPr>
            <a:r>
              <a:rPr b="0" i="0" lang="en-US" sz="3400" u="none" cap="none" strike="noStrike">
                <a:solidFill>
                  <a:srgbClr val="303870"/>
                </a:solidFill>
                <a:latin typeface="DM Sans"/>
                <a:ea typeface="DM Sans"/>
                <a:cs typeface="DM Sans"/>
                <a:sym typeface="DM Sans"/>
              </a:rPr>
              <a:t>CONCLUSION</a:t>
            </a:r>
            <a:endParaRPr/>
          </a:p>
        </p:txBody>
      </p:sp>
      <p:sp>
        <p:nvSpPr>
          <p:cNvPr id="394" name="Google Shape;394;p27"/>
          <p:cNvSpPr txBox="1"/>
          <p:nvPr/>
        </p:nvSpPr>
        <p:spPr>
          <a:xfrm>
            <a:off x="2189684" y="2688812"/>
            <a:ext cx="10603761" cy="37542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8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The project is not simply about deploying existing network tools.</a:t>
            </a:r>
            <a:endParaRPr/>
          </a:p>
          <a:p>
            <a:pPr indent="0" lvl="0" marL="0" marR="0" rtl="0" algn="l">
              <a:lnSpc>
                <a:spcPct val="13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8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            Our approach:</a:t>
            </a:r>
            <a:endParaRPr/>
          </a:p>
          <a:p>
            <a:pPr indent="-257794" lvl="1" marL="515589" marR="0" rtl="0" algn="l">
              <a:lnSpc>
                <a:spcPct val="139991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2388"/>
              <a:buFont typeface="Arial"/>
              <a:buChar char="•"/>
            </a:pPr>
            <a:r>
              <a:rPr b="1" i="0" lang="en-US" sz="2388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                      Use proven technologies</a:t>
            </a:r>
            <a:endParaRPr/>
          </a:p>
          <a:p>
            <a:pPr indent="-257794" lvl="1" marL="515589" marR="0" rtl="0" algn="l">
              <a:lnSpc>
                <a:spcPct val="139991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2388"/>
              <a:buFont typeface="Arial"/>
              <a:buChar char="•"/>
            </a:pPr>
            <a:r>
              <a:rPr b="1" i="0" lang="en-US" sz="2388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                      Customize them for PGI</a:t>
            </a:r>
            <a:endParaRPr/>
          </a:p>
          <a:p>
            <a:pPr indent="-257794" lvl="1" marL="515589" marR="0" rtl="0" algn="l">
              <a:lnSpc>
                <a:spcPct val="139991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2388"/>
              <a:buFont typeface="Arial"/>
              <a:buChar char="•"/>
            </a:pPr>
            <a:r>
              <a:rPr b="1" i="0" lang="en-US" sz="2388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                      Create an integrated operational workflow     </a:t>
            </a:r>
            <a:endParaRPr/>
          </a:p>
          <a:p>
            <a:pPr indent="-257794" lvl="1" marL="515589" marR="0" rtl="0" algn="l">
              <a:lnSpc>
                <a:spcPct val="139991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2388"/>
              <a:buFont typeface="Arial"/>
              <a:buChar char="•"/>
            </a:pPr>
            <a:r>
              <a:rPr b="1" i="0" lang="en-US" sz="2388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                     Measu re the baseline</a:t>
            </a:r>
            <a:endParaRPr/>
          </a:p>
          <a:p>
            <a:pPr indent="-257794" lvl="1" marL="515589" marR="0" rtl="0" algn="l">
              <a:lnSpc>
                <a:spcPct val="139991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2388"/>
              <a:buFont typeface="Arial"/>
              <a:buChar char="•"/>
            </a:pPr>
            <a:r>
              <a:rPr b="1" i="0" lang="en-US" sz="2388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                     Implement or simulate improvements safely</a:t>
            </a:r>
            <a:endParaRPr/>
          </a:p>
          <a:p>
            <a:pPr indent="-257794" lvl="1" marL="515589" marR="0" rtl="0" algn="l">
              <a:lnSpc>
                <a:spcPct val="139991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2388"/>
              <a:buFont typeface="Arial"/>
              <a:buChar char="•"/>
            </a:pPr>
            <a:r>
              <a:rPr b="1" i="0" lang="en-US" sz="2388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                     Quantitatively evaluate the results</a:t>
            </a:r>
            <a:endParaRPr/>
          </a:p>
          <a:p>
            <a:pPr indent="0" lvl="0" marL="0" marR="0" rtl="0" algn="l">
              <a:lnSpc>
                <a:spcPct val="13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388" u="none" cap="none" strike="noStrike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95" name="Google Shape;395;p27"/>
          <p:cNvSpPr txBox="1"/>
          <p:nvPr/>
        </p:nvSpPr>
        <p:spPr>
          <a:xfrm>
            <a:off x="1120254" y="7023984"/>
            <a:ext cx="8023746" cy="432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7035" lvl="1" marL="734069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3400"/>
              <a:buFont typeface="Arial"/>
              <a:buChar char="•"/>
            </a:pPr>
            <a:r>
              <a:rPr b="0" i="0" lang="en-US" sz="3400" u="none" cap="none" strike="noStrike">
                <a:solidFill>
                  <a:srgbClr val="303870"/>
                </a:solidFill>
                <a:latin typeface="DM Sans"/>
                <a:ea typeface="DM Sans"/>
                <a:cs typeface="DM Sans"/>
                <a:sym typeface="DM Sans"/>
              </a:rPr>
              <a:t>FINAL GOAL</a:t>
            </a:r>
            <a:endParaRPr/>
          </a:p>
        </p:txBody>
      </p:sp>
      <p:sp>
        <p:nvSpPr>
          <p:cNvPr id="396" name="Google Shape;396;p27"/>
          <p:cNvSpPr txBox="1"/>
          <p:nvPr/>
        </p:nvSpPr>
        <p:spPr>
          <a:xfrm>
            <a:off x="2189684" y="7538757"/>
            <a:ext cx="10603761" cy="8167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8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A Reliable + Secure + Observable + Maintainable PGI Network</a:t>
            </a:r>
            <a:endParaRPr/>
          </a:p>
          <a:p>
            <a:pPr indent="0" lvl="0" marL="0" marR="0" rtl="0" algn="l">
              <a:lnSpc>
                <a:spcPct val="13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388" u="none" cap="none" strike="noStrike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EDE2"/>
        </a:solidFill>
      </p:bgPr>
    </p:bg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1" name="Google Shape;401;p28"/>
          <p:cNvGrpSpPr/>
          <p:nvPr/>
        </p:nvGrpSpPr>
        <p:grpSpPr>
          <a:xfrm>
            <a:off x="17259300" y="-325842"/>
            <a:ext cx="3086100" cy="10648652"/>
            <a:chOff x="0" y="-95250"/>
            <a:chExt cx="812800" cy="2804583"/>
          </a:xfrm>
        </p:grpSpPr>
        <p:sp>
          <p:nvSpPr>
            <p:cNvPr id="402" name="Google Shape;402;p28"/>
            <p:cNvSpPr/>
            <p:nvPr/>
          </p:nvSpPr>
          <p:spPr>
            <a:xfrm>
              <a:off x="0" y="0"/>
              <a:ext cx="812800" cy="2709333"/>
            </a:xfrm>
            <a:custGeom>
              <a:rect b="b" l="l" r="r" t="t"/>
              <a:pathLst>
                <a:path extrusionOk="0" h="2709333" w="812800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28"/>
            <p:cNvSpPr txBox="1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2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4" name="Google Shape;404;p28"/>
          <p:cNvSpPr txBox="1"/>
          <p:nvPr/>
        </p:nvSpPr>
        <p:spPr>
          <a:xfrm>
            <a:off x="1028700" y="1133475"/>
            <a:ext cx="13286185" cy="650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303870"/>
                </a:solidFill>
                <a:latin typeface="DM Sans"/>
                <a:ea typeface="DM Sans"/>
                <a:cs typeface="DM Sans"/>
                <a:sym typeface="DM Sans"/>
              </a:rPr>
              <a:t>THANK YOU</a:t>
            </a:r>
            <a:endParaRPr/>
          </a:p>
        </p:txBody>
      </p:sp>
      <p:sp>
        <p:nvSpPr>
          <p:cNvPr id="405" name="Google Shape;405;p28"/>
          <p:cNvSpPr txBox="1"/>
          <p:nvPr/>
        </p:nvSpPr>
        <p:spPr>
          <a:xfrm>
            <a:off x="1047750" y="2075147"/>
            <a:ext cx="14267318" cy="432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7035" lvl="1" marL="734069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303870"/>
              </a:buClr>
              <a:buSzPts val="3400"/>
              <a:buFont typeface="Arial"/>
              <a:buChar char="•"/>
            </a:pPr>
            <a:r>
              <a:rPr b="0" i="0" lang="en-US" sz="3400" u="none" cap="none" strike="noStrike">
                <a:solidFill>
                  <a:srgbClr val="303870"/>
                </a:solidFill>
                <a:latin typeface="DM Sans"/>
                <a:ea typeface="DM Sans"/>
                <a:cs typeface="DM Sans"/>
                <a:sym typeface="DM Sans"/>
              </a:rPr>
              <a:t>THANK YOU</a:t>
            </a:r>
            <a:endParaRPr/>
          </a:p>
        </p:txBody>
      </p:sp>
      <p:sp>
        <p:nvSpPr>
          <p:cNvPr id="406" name="Google Shape;406;p28"/>
          <p:cNvSpPr txBox="1"/>
          <p:nvPr/>
        </p:nvSpPr>
        <p:spPr>
          <a:xfrm>
            <a:off x="2234281" y="2569887"/>
            <a:ext cx="7660500" cy="44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8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Questions &amp; Discussion</a:t>
            </a:r>
            <a:endParaRPr/>
          </a:p>
          <a:p>
            <a:pPr indent="0" lvl="0" marL="0" marR="0" rtl="0" algn="l">
              <a:lnSpc>
                <a:spcPct val="13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388" u="none" cap="none" strike="noStrike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3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8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PGI Network Management &amp; Optimization Framework</a:t>
            </a:r>
            <a:endParaRPr/>
          </a:p>
          <a:p>
            <a:pPr indent="0" lvl="0" marL="0" marR="0" rtl="0" algn="l">
              <a:lnSpc>
                <a:spcPct val="13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388" u="none" cap="none" strike="noStrike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3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8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Emanwal Boota &amp; </a:t>
            </a:r>
            <a:r>
              <a:rPr b="1" lang="en-US" sz="2388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Methew Amir</a:t>
            </a:r>
            <a:endParaRPr/>
          </a:p>
          <a:p>
            <a:pPr indent="0" lvl="0" marL="0" marR="0" rtl="0" algn="l">
              <a:lnSpc>
                <a:spcPct val="13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388" u="none" cap="none" strike="noStrike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3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88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BS Computer Science</a:t>
            </a:r>
            <a:endParaRPr/>
          </a:p>
          <a:p>
            <a:pPr indent="0" lvl="0" marL="0" marR="0" rtl="0" algn="l">
              <a:lnSpc>
                <a:spcPct val="13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88" u="none" cap="none" strike="noStrike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Pakistan Global Institute</a:t>
            </a:r>
            <a:endParaRPr/>
          </a:p>
          <a:p>
            <a:pPr indent="0" lvl="0" marL="0" marR="0" rtl="0" algn="l">
              <a:lnSpc>
                <a:spcPct val="13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88" u="none" cap="none" strike="noStrike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